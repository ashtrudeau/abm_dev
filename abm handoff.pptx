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66" r:id="rId3"/>
    <p:sldId id="298" r:id="rId4"/>
    <p:sldId id="257" r:id="rId5"/>
    <p:sldId id="304" r:id="rId6"/>
    <p:sldId id="306" r:id="rId7"/>
    <p:sldId id="359" r:id="rId8"/>
    <p:sldId id="361" r:id="rId9"/>
    <p:sldId id="364" r:id="rId10"/>
    <p:sldId id="360" r:id="rId11"/>
    <p:sldId id="362" r:id="rId12"/>
    <p:sldId id="347" r:id="rId13"/>
    <p:sldId id="346" r:id="rId14"/>
    <p:sldId id="365" r:id="rId15"/>
    <p:sldId id="3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78721" autoAdjust="0"/>
  </p:normalViewPr>
  <p:slideViewPr>
    <p:cSldViewPr snapToGrid="0">
      <p:cViewPr varScale="1">
        <p:scale>
          <a:sx n="104" d="100"/>
          <a:sy n="104" d="100"/>
        </p:scale>
        <p:origin x="106" y="3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1A1735-2D93-4F67-A7B5-03F6CCDB2C25}" type="datetimeFigureOut">
              <a:rPr lang="en-US" smtClean="0"/>
              <a:t>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12D2BC-3C48-4E07-8B21-66346D32A536}" type="slidenum">
              <a:rPr lang="en-US" smtClean="0"/>
              <a:t>‹#›</a:t>
            </a:fld>
            <a:endParaRPr lang="en-US"/>
          </a:p>
        </p:txBody>
      </p:sp>
    </p:spTree>
    <p:extLst>
      <p:ext uri="{BB962C8B-B14F-4D97-AF65-F5344CB8AC3E}">
        <p14:creationId xmlns:p14="http://schemas.microsoft.com/office/powerpoint/2010/main" val="150002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is how I was imagining the ABM could be used first, to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groundtruth</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simulation versus existing data on fishing effort, walleye populations, exploitation rates, then look at short term forecasts based on lake temperature and its effects on M and growth</a:t>
            </a:r>
          </a:p>
          <a:p>
            <a:pPr marL="0" marR="0">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idea would then be to run replicates of these simulations for different climate scenarios, bringing in USGS model-based estimates of lake water temperatures for different past, present, and future time periods. As the scenarios progress, we would be able to see the influences of increased bluegill growth, as well as the negative effects of warmer waters on walleye populations. There then would be the option to test the effects of management interventions like stocking on landscape-scale outcomes. This relies on some other work that is happening on bluegill (ask Zach about this)</a:t>
            </a:r>
          </a:p>
          <a:p>
            <a:endParaRPr lang="en-US" dirty="0"/>
          </a:p>
        </p:txBody>
      </p:sp>
      <p:sp>
        <p:nvSpPr>
          <p:cNvPr id="4" name="Slide Number Placeholder 3"/>
          <p:cNvSpPr>
            <a:spLocks noGrp="1"/>
          </p:cNvSpPr>
          <p:nvPr>
            <p:ph type="sldNum" sz="quarter" idx="5"/>
          </p:nvPr>
        </p:nvSpPr>
        <p:spPr/>
        <p:txBody>
          <a:bodyPr/>
          <a:lstStyle/>
          <a:p>
            <a:fld id="{A2A57BA2-ADC9-4A2C-BE2F-831E164BF13B}" type="slidenum">
              <a:rPr lang="en-US" smtClean="0"/>
              <a:t>3</a:t>
            </a:fld>
            <a:endParaRPr lang="en-US"/>
          </a:p>
        </p:txBody>
      </p:sp>
    </p:spTree>
    <p:extLst>
      <p:ext uri="{BB962C8B-B14F-4D97-AF65-F5344CB8AC3E}">
        <p14:creationId xmlns:p14="http://schemas.microsoft.com/office/powerpoint/2010/main" val="1202073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my plan—developing angler choice and catch </a:t>
            </a:r>
            <a:r>
              <a:rPr lang="en-US" dirty="0" err="1"/>
              <a:t>submodels</a:t>
            </a:r>
            <a:r>
              <a:rPr lang="en-US" dirty="0"/>
              <a:t> based on analysis of revealed preference data and an experimental angling dataset. I managed A (partitioning variance, in prep). DCE didn’t pan out, revealed preference never got off the ground</a:t>
            </a:r>
          </a:p>
        </p:txBody>
      </p:sp>
      <p:sp>
        <p:nvSpPr>
          <p:cNvPr id="4" name="Slide Number Placeholder 3"/>
          <p:cNvSpPr>
            <a:spLocks noGrp="1"/>
          </p:cNvSpPr>
          <p:nvPr>
            <p:ph type="sldNum" sz="quarter" idx="5"/>
          </p:nvPr>
        </p:nvSpPr>
        <p:spPr/>
        <p:txBody>
          <a:bodyPr/>
          <a:lstStyle/>
          <a:p>
            <a:fld id="{0305D442-BA73-4AE0-A28E-7D2418E5B0C5}" type="slidenum">
              <a:rPr lang="en-US" smtClean="0"/>
              <a:t>4</a:t>
            </a:fld>
            <a:endParaRPr lang="en-US"/>
          </a:p>
        </p:txBody>
      </p:sp>
    </p:spTree>
    <p:extLst>
      <p:ext uri="{BB962C8B-B14F-4D97-AF65-F5344CB8AC3E}">
        <p14:creationId xmlns:p14="http://schemas.microsoft.com/office/powerpoint/2010/main" val="2663916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is the model that we are eventually shooting for: where each of the lakes in the simulation can include bluegill as an alternative target species. And in different climate scenarios, differences in lake temperature would drive differences among lakes in growth and natural mortality. Anglers then act on these lakes, choosing lakes, target species, and then catching and harvesting fish. Their experience at different lakes would then be remembered, and used as updated information for their next decision. For this more interesting angler choice model, I’m going to use utility estimates from a choice experiment that’s already been completed, as well as an analysis of angler diary data collected by the DNR. The diary analysis will inform simulated anglers’ decisions to participate (or not), choose to fish for bluegill, walleye, or something else, and then choose a lake. In further future iterations, I’d like to add a manager decision sub-model that observes the fishery landscape with error and then makes intervention decisions. </a:t>
            </a:r>
          </a:p>
        </p:txBody>
      </p:sp>
      <p:sp>
        <p:nvSpPr>
          <p:cNvPr id="4" name="Slide Number Placeholder 3"/>
          <p:cNvSpPr>
            <a:spLocks noGrp="1"/>
          </p:cNvSpPr>
          <p:nvPr>
            <p:ph type="sldNum" sz="quarter" idx="5"/>
          </p:nvPr>
        </p:nvSpPr>
        <p:spPr/>
        <p:txBody>
          <a:bodyPr/>
          <a:lstStyle/>
          <a:p>
            <a:fld id="{A2A57BA2-ADC9-4A2C-BE2F-831E164BF13B}" type="slidenum">
              <a:rPr lang="en-US" smtClean="0"/>
              <a:t>5</a:t>
            </a:fld>
            <a:endParaRPr lang="en-US"/>
          </a:p>
        </p:txBody>
      </p:sp>
    </p:spTree>
    <p:extLst>
      <p:ext uri="{BB962C8B-B14F-4D97-AF65-F5344CB8AC3E}">
        <p14:creationId xmlns:p14="http://schemas.microsoft.com/office/powerpoint/2010/main" val="2234322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AFB1-52A6-0B64-8DB5-296195862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8F080-1798-4C0E-6E2E-0A185BA6A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0CE7A-BB75-2678-E07D-4570DAE6567E}"/>
              </a:ext>
            </a:extLst>
          </p:cNvPr>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is the model that we are eventually shooting for: where each of the lakes in the simulation can include bluegill as an alternative target species. And in different climate scenarios, differences in lake temperature would drive differences among lakes in growth and natural mortality. Anglers then act on these lakes, choosing lakes, target species, and then catching and harvesting fish. Their experience at different lakes would then be remembered, and used as updated information for their next decision. For this more interesting angler choice model, I’m going to use utility estimates from a choice experiment that’s already been completed, as well as an analysis of angler diary data collected by the DNR. The diary analysis will inform simulated anglers’ decisions to participate (or not), choose to fish for bluegill, walleye, or something else, and then choose a lake. In further future iterations, I’d like to add a manager decision sub-model that observes the fishery landscape with error and then makes intervention decisions. </a:t>
            </a:r>
          </a:p>
        </p:txBody>
      </p:sp>
      <p:sp>
        <p:nvSpPr>
          <p:cNvPr id="4" name="Slide Number Placeholder 3">
            <a:extLst>
              <a:ext uri="{FF2B5EF4-FFF2-40B4-BE49-F238E27FC236}">
                <a16:creationId xmlns:a16="http://schemas.microsoft.com/office/drawing/2014/main" id="{2538417E-4237-0327-6A91-CE0E67FFEE9E}"/>
              </a:ext>
            </a:extLst>
          </p:cNvPr>
          <p:cNvSpPr>
            <a:spLocks noGrp="1"/>
          </p:cNvSpPr>
          <p:nvPr>
            <p:ph type="sldNum" sz="quarter" idx="5"/>
          </p:nvPr>
        </p:nvSpPr>
        <p:spPr/>
        <p:txBody>
          <a:bodyPr/>
          <a:lstStyle/>
          <a:p>
            <a:fld id="{A2A57BA2-ADC9-4A2C-BE2F-831E164BF13B}" type="slidenum">
              <a:rPr lang="en-US" smtClean="0"/>
              <a:t>6</a:t>
            </a:fld>
            <a:endParaRPr lang="en-US"/>
          </a:p>
        </p:txBody>
      </p:sp>
    </p:spTree>
    <p:extLst>
      <p:ext uri="{BB962C8B-B14F-4D97-AF65-F5344CB8AC3E}">
        <p14:creationId xmlns:p14="http://schemas.microsoft.com/office/powerpoint/2010/main" val="3161396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To proactively identify potential large-scale responses to this change, we are developing an individual-based model integrating biological and social data. The model has three main components: 1) A decision model parameterized by angler diaries and a choice experiment where anglers choose among fishing sites, 2) A fishing model, where anglers harvest fish at their chosen site, and 3) a biological model of fish populations. Currently this is walleye only, and parameterized by DNR survey data and a large body of walleye population dynamics research. We are trying to find the simplest possible model that can produce landscape-scale patterns in fishing effort and harvest corresponding to observed patterns. </a:t>
            </a:r>
          </a:p>
        </p:txBody>
      </p:sp>
      <p:sp>
        <p:nvSpPr>
          <p:cNvPr id="4" name="Slide Number Placeholder 3"/>
          <p:cNvSpPr>
            <a:spLocks noGrp="1"/>
          </p:cNvSpPr>
          <p:nvPr>
            <p:ph type="sldNum" sz="quarter" idx="5"/>
          </p:nvPr>
        </p:nvSpPr>
        <p:spPr/>
        <p:txBody>
          <a:bodyPr/>
          <a:lstStyle/>
          <a:p>
            <a:fld id="{4DFD8B62-D5BF-4B3B-8E21-141C4256F02E}" type="slidenum">
              <a:rPr lang="en-US" smtClean="0"/>
              <a:t>7</a:t>
            </a:fld>
            <a:endParaRPr lang="en-US"/>
          </a:p>
        </p:txBody>
      </p:sp>
    </p:spTree>
    <p:extLst>
      <p:ext uri="{BB962C8B-B14F-4D97-AF65-F5344CB8AC3E}">
        <p14:creationId xmlns:p14="http://schemas.microsoft.com/office/powerpoint/2010/main" val="199451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model is spatially explicit and based on a selection of real WI lakes. For now these are lakes with creel and fish population data collected by the DNR, and I show a selection of them here. Anglers are assigned a home location with some known distance to each lake included in the model. This map shows some of those lakes and a few arbitrary example angler locations. In each loop of the daily model, anglers currently weight distance and walleye population abundance to choose a fishing site.</a:t>
            </a:r>
          </a:p>
          <a:p>
            <a:endParaRPr lang="en-US" dirty="0"/>
          </a:p>
        </p:txBody>
      </p:sp>
      <p:sp>
        <p:nvSpPr>
          <p:cNvPr id="4" name="Slide Number Placeholder 3"/>
          <p:cNvSpPr>
            <a:spLocks noGrp="1"/>
          </p:cNvSpPr>
          <p:nvPr>
            <p:ph type="sldNum" sz="quarter" idx="5"/>
          </p:nvPr>
        </p:nvSpPr>
        <p:spPr/>
        <p:txBody>
          <a:bodyPr/>
          <a:lstStyle/>
          <a:p>
            <a:fld id="{4DFD8B62-D5BF-4B3B-8E21-141C4256F02E}" type="slidenum">
              <a:rPr lang="en-US" smtClean="0"/>
              <a:t>8</a:t>
            </a:fld>
            <a:endParaRPr lang="en-US"/>
          </a:p>
        </p:txBody>
      </p:sp>
    </p:spTree>
    <p:extLst>
      <p:ext uri="{BB962C8B-B14F-4D97-AF65-F5344CB8AC3E}">
        <p14:creationId xmlns:p14="http://schemas.microsoft.com/office/powerpoint/2010/main" val="1736501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They then harvest walleye from that lake based on the catch equation with hyperstability, removing walleye from the population. </a:t>
            </a:r>
          </a:p>
          <a:p>
            <a:endParaRPr lang="en-US" dirty="0"/>
          </a:p>
        </p:txBody>
      </p:sp>
      <p:sp>
        <p:nvSpPr>
          <p:cNvPr id="4" name="Slide Number Placeholder 3"/>
          <p:cNvSpPr>
            <a:spLocks noGrp="1"/>
          </p:cNvSpPr>
          <p:nvPr>
            <p:ph type="sldNum" sz="quarter" idx="5"/>
          </p:nvPr>
        </p:nvSpPr>
        <p:spPr/>
        <p:txBody>
          <a:bodyPr/>
          <a:lstStyle/>
          <a:p>
            <a:fld id="{4DFD8B62-D5BF-4B3B-8E21-141C4256F02E}" type="slidenum">
              <a:rPr lang="en-US" smtClean="0"/>
              <a:t>9</a:t>
            </a:fld>
            <a:endParaRPr lang="en-US"/>
          </a:p>
        </p:txBody>
      </p:sp>
    </p:spTree>
    <p:extLst>
      <p:ext uri="{BB962C8B-B14F-4D97-AF65-F5344CB8AC3E}">
        <p14:creationId xmlns:p14="http://schemas.microsoft.com/office/powerpoint/2010/main" val="2496041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cycle then repeats for a year. </a:t>
            </a:r>
          </a:p>
          <a:p>
            <a:endParaRPr lang="en-US" dirty="0"/>
          </a:p>
        </p:txBody>
      </p:sp>
      <p:sp>
        <p:nvSpPr>
          <p:cNvPr id="4" name="Slide Number Placeholder 3"/>
          <p:cNvSpPr>
            <a:spLocks noGrp="1"/>
          </p:cNvSpPr>
          <p:nvPr>
            <p:ph type="sldNum" sz="quarter" idx="5"/>
          </p:nvPr>
        </p:nvSpPr>
        <p:spPr/>
        <p:txBody>
          <a:bodyPr/>
          <a:lstStyle/>
          <a:p>
            <a:fld id="{4DFD8B62-D5BF-4B3B-8E21-141C4256F02E}" type="slidenum">
              <a:rPr lang="en-US" smtClean="0"/>
              <a:t>10</a:t>
            </a:fld>
            <a:endParaRPr lang="en-US"/>
          </a:p>
        </p:txBody>
      </p:sp>
    </p:spTree>
    <p:extLst>
      <p:ext uri="{BB962C8B-B14F-4D97-AF65-F5344CB8AC3E}">
        <p14:creationId xmlns:p14="http://schemas.microsoft.com/office/powerpoint/2010/main" val="417319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After each year of the simulation, the fish populations of each lake then experience natural mortality, ageing and growth, and recruitment. In this simple version, we have constant natural mortality, growth that is based on lake classification published by Andrew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Rypel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colleagues, and a deterministic Ricker stock recruitment curve using regional parameters estimated by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Iyob</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Tsehaye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coauthors. </a:t>
            </a:r>
          </a:p>
          <a:p>
            <a:endParaRPr lang="en-US" dirty="0"/>
          </a:p>
        </p:txBody>
      </p:sp>
      <p:sp>
        <p:nvSpPr>
          <p:cNvPr id="4" name="Slide Number Placeholder 3"/>
          <p:cNvSpPr>
            <a:spLocks noGrp="1"/>
          </p:cNvSpPr>
          <p:nvPr>
            <p:ph type="sldNum" sz="quarter" idx="5"/>
          </p:nvPr>
        </p:nvSpPr>
        <p:spPr/>
        <p:txBody>
          <a:bodyPr/>
          <a:lstStyle/>
          <a:p>
            <a:fld id="{4DFD8B62-D5BF-4B3B-8E21-141C4256F02E}" type="slidenum">
              <a:rPr lang="en-US" smtClean="0"/>
              <a:t>11</a:t>
            </a:fld>
            <a:endParaRPr lang="en-US"/>
          </a:p>
        </p:txBody>
      </p:sp>
    </p:spTree>
    <p:extLst>
      <p:ext uri="{BB962C8B-B14F-4D97-AF65-F5344CB8AC3E}">
        <p14:creationId xmlns:p14="http://schemas.microsoft.com/office/powerpoint/2010/main" val="4028401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These are all different summaries of size structure: mean length, max length, and PSD quality size. In the mean and PSD plots, we can see the expected decline in size structure that you would expect from high fishing effort. The max size is looking less useful; I think this is because I included a maximum of 15 year classes, with 15+ survivors just remaining there and not growing. This tells me that those old fish aren’t going away in this scenario. </a:t>
            </a:r>
          </a:p>
        </p:txBody>
      </p:sp>
      <p:sp>
        <p:nvSpPr>
          <p:cNvPr id="4" name="Slide Number Placeholder 3"/>
          <p:cNvSpPr>
            <a:spLocks noGrp="1"/>
          </p:cNvSpPr>
          <p:nvPr>
            <p:ph type="sldNum" sz="quarter" idx="5"/>
          </p:nvPr>
        </p:nvSpPr>
        <p:spPr/>
        <p:txBody>
          <a:bodyPr/>
          <a:lstStyle/>
          <a:p>
            <a:fld id="{4DFD8B62-D5BF-4B3B-8E21-141C4256F02E}" type="slidenum">
              <a:rPr lang="en-US" smtClean="0"/>
              <a:t>12</a:t>
            </a:fld>
            <a:endParaRPr lang="en-US"/>
          </a:p>
        </p:txBody>
      </p:sp>
    </p:spTree>
    <p:extLst>
      <p:ext uri="{BB962C8B-B14F-4D97-AF65-F5344CB8AC3E}">
        <p14:creationId xmlns:p14="http://schemas.microsoft.com/office/powerpoint/2010/main" val="3596771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And here we have plots tracking annual fishing effort, harvest, and walleye abundance. And in the bottom right, a map of the lakes’ locations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colorded</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dots) and those of the anglers, which were randomly placed in this box. And one thing that’s really evident is that location is driving these patterns. The blue lake is attracting the most fishing effort, not because it has a high walleye population, but because it’s the closest lake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most anglers. So this tells me that getting the spatial distribution of anglers and lakes correct is going to be important, as will using informed estimates of angler tradeoffs between travel and fishing quality. </a:t>
            </a:r>
          </a:p>
        </p:txBody>
      </p:sp>
      <p:sp>
        <p:nvSpPr>
          <p:cNvPr id="4" name="Slide Number Placeholder 3"/>
          <p:cNvSpPr>
            <a:spLocks noGrp="1"/>
          </p:cNvSpPr>
          <p:nvPr>
            <p:ph type="sldNum" sz="quarter" idx="5"/>
          </p:nvPr>
        </p:nvSpPr>
        <p:spPr/>
        <p:txBody>
          <a:bodyPr/>
          <a:lstStyle/>
          <a:p>
            <a:fld id="{4DFD8B62-D5BF-4B3B-8E21-141C4256F02E}" type="slidenum">
              <a:rPr lang="en-US" smtClean="0"/>
              <a:t>13</a:t>
            </a:fld>
            <a:endParaRPr lang="en-US"/>
          </a:p>
        </p:txBody>
      </p:sp>
    </p:spTree>
    <p:extLst>
      <p:ext uri="{BB962C8B-B14F-4D97-AF65-F5344CB8AC3E}">
        <p14:creationId xmlns:p14="http://schemas.microsoft.com/office/powerpoint/2010/main" val="473279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Chtc</a:t>
            </a:r>
            <a:r>
              <a:rPr lang="en-US" dirty="0"/>
              <a:t> website: https://chtc.cs.wisc.edu/ </a:t>
            </a:r>
          </a:p>
        </p:txBody>
      </p:sp>
      <p:sp>
        <p:nvSpPr>
          <p:cNvPr id="4" name="Slide Number Placeholder 3"/>
          <p:cNvSpPr>
            <a:spLocks noGrp="1"/>
          </p:cNvSpPr>
          <p:nvPr>
            <p:ph type="sldNum" sz="quarter" idx="5"/>
          </p:nvPr>
        </p:nvSpPr>
        <p:spPr/>
        <p:txBody>
          <a:bodyPr/>
          <a:lstStyle/>
          <a:p>
            <a:fld id="{6112D2BC-3C48-4E07-8B21-66346D32A536}" type="slidenum">
              <a:rPr lang="en-US" smtClean="0"/>
              <a:t>15</a:t>
            </a:fld>
            <a:endParaRPr lang="en-US"/>
          </a:p>
        </p:txBody>
      </p:sp>
    </p:spTree>
    <p:extLst>
      <p:ext uri="{BB962C8B-B14F-4D97-AF65-F5344CB8AC3E}">
        <p14:creationId xmlns:p14="http://schemas.microsoft.com/office/powerpoint/2010/main" val="1740559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CDBF-B70C-FDCC-F99B-78F8834EC5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6C08E8-B776-55C1-A2DD-D9A4F07DDD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FB639-8F6B-2673-654B-EA9EC41CA131}"/>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5" name="Footer Placeholder 4">
            <a:extLst>
              <a:ext uri="{FF2B5EF4-FFF2-40B4-BE49-F238E27FC236}">
                <a16:creationId xmlns:a16="http://schemas.microsoft.com/office/drawing/2014/main" id="{B8E64045-AA57-4231-56A9-A7E364EF3D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C6D8A6-944A-9761-B5D3-C82E8E16F854}"/>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1583255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709F-6458-5830-AA54-D06ADD46F8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5ABC13-886A-EC64-5BFD-32F0D1363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27897F-EE6B-F2B7-9815-E97792ABC294}"/>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5" name="Footer Placeholder 4">
            <a:extLst>
              <a:ext uri="{FF2B5EF4-FFF2-40B4-BE49-F238E27FC236}">
                <a16:creationId xmlns:a16="http://schemas.microsoft.com/office/drawing/2014/main" id="{E3ED4413-740E-21B0-A92F-70ABD036FA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66D84F-CFF2-9FEE-3F07-780ABBDA0DF1}"/>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85879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F4E0-5C9C-E24F-640D-C262910AD9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39E39A-EDAC-3E96-13EB-2AF790A09E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B0E352-4787-EE72-0F6D-E8386AB04E28}"/>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5" name="Footer Placeholder 4">
            <a:extLst>
              <a:ext uri="{FF2B5EF4-FFF2-40B4-BE49-F238E27FC236}">
                <a16:creationId xmlns:a16="http://schemas.microsoft.com/office/drawing/2014/main" id="{930DE51B-096C-115D-F5B9-83949472E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CDA35-7C82-1209-994A-F86B470F2509}"/>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246737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9591-033D-DFEF-62D1-A1F2C0517D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D4595F-00A7-3A72-8E5D-97D9C2BBAD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3A5C2A-F3EE-D483-F541-A4B316EEE1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6CD5DE-BC30-4FC8-ABB6-852B380E39C9}"/>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6" name="Footer Placeholder 5">
            <a:extLst>
              <a:ext uri="{FF2B5EF4-FFF2-40B4-BE49-F238E27FC236}">
                <a16:creationId xmlns:a16="http://schemas.microsoft.com/office/drawing/2014/main" id="{594AF447-3590-F17D-D4EF-9610DE760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56F53F-CA01-1427-A73E-1A2D9DB39679}"/>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265526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FAA7C-ACAC-8F63-51C4-A5BC94D3BC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63FD84-5B07-8503-A60E-AAA87A4720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1F692E-2933-5829-8D85-89BB042C35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A75428-5F0E-BBB1-C764-D9AB745DE7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E3066B-61DE-7856-42F5-52164DDBC0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CC24BA-46B5-762E-BFB9-B01C0857BCD2}"/>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8" name="Footer Placeholder 7">
            <a:extLst>
              <a:ext uri="{FF2B5EF4-FFF2-40B4-BE49-F238E27FC236}">
                <a16:creationId xmlns:a16="http://schemas.microsoft.com/office/drawing/2014/main" id="{F05B196F-BC04-C89A-F8CC-77DD6F4AFC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36D2F9-A4ED-32C8-96FC-0BB0EA6A3FD6}"/>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2890821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5E306-D049-7582-E8E5-9C8D8BEC9F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22AB91-F618-B66C-03D5-0F415B6159F8}"/>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4" name="Footer Placeholder 3">
            <a:extLst>
              <a:ext uri="{FF2B5EF4-FFF2-40B4-BE49-F238E27FC236}">
                <a16:creationId xmlns:a16="http://schemas.microsoft.com/office/drawing/2014/main" id="{3A76908D-2EB1-57E3-F0EB-AB3D8A99E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DAF220-238B-671E-3562-54F3FAEACB08}"/>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576574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10C12-7C11-961F-6C49-4A66C9568D34}"/>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3" name="Footer Placeholder 2">
            <a:extLst>
              <a:ext uri="{FF2B5EF4-FFF2-40B4-BE49-F238E27FC236}">
                <a16:creationId xmlns:a16="http://schemas.microsoft.com/office/drawing/2014/main" id="{525EDBC9-2937-3AF5-3ED1-C92C4B4CF1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605385-8D1C-0E94-A120-F339B8034782}"/>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1825652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D4984-AB63-8295-F222-43B7157AB7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F6BB1B-ED5F-CB12-0AA3-FBEFFCFCCC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604E90-236C-C923-8C18-525AA4575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0E778-E801-E0F7-A429-B40F1D55F993}"/>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6" name="Footer Placeholder 5">
            <a:extLst>
              <a:ext uri="{FF2B5EF4-FFF2-40B4-BE49-F238E27FC236}">
                <a16:creationId xmlns:a16="http://schemas.microsoft.com/office/drawing/2014/main" id="{667D3D60-5B2E-B6B5-0A82-B136D3928B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98C789-DEE3-8DBD-CE11-3F33714CBF73}"/>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3815585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FF600-287B-5B97-C93C-62566E79D1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3413FC-A695-2B73-138D-DA2AB52727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F1D4EF-9EE1-1BC3-C899-8DA712D72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DB59D-A75B-1967-7642-149DA8FCBE66}"/>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6" name="Footer Placeholder 5">
            <a:extLst>
              <a:ext uri="{FF2B5EF4-FFF2-40B4-BE49-F238E27FC236}">
                <a16:creationId xmlns:a16="http://schemas.microsoft.com/office/drawing/2014/main" id="{01E8FA36-C9E6-27AD-A9B4-B69C827D69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24EC1-CBC0-6566-E1AB-155FCB979FD9}"/>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3407589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977E-E362-1E17-A5BE-A7E855949D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CEF24-4C82-21D3-027C-DBB52E82CB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7BA63-0DC8-742D-D40A-274AB8BA9C67}"/>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5" name="Footer Placeholder 4">
            <a:extLst>
              <a:ext uri="{FF2B5EF4-FFF2-40B4-BE49-F238E27FC236}">
                <a16:creationId xmlns:a16="http://schemas.microsoft.com/office/drawing/2014/main" id="{6EA38BDF-C3FD-3423-A9ED-DC33440820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FB9131-F344-CE78-7E36-5AC3101C7077}"/>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2998953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9371EB-D750-641F-024E-019C35F425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6DFBA4-0162-0991-7586-F7406788EE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8D1F93-303C-847F-B37B-B0118347987C}"/>
              </a:ext>
            </a:extLst>
          </p:cNvPr>
          <p:cNvSpPr>
            <a:spLocks noGrp="1"/>
          </p:cNvSpPr>
          <p:nvPr>
            <p:ph type="dt" sz="half" idx="10"/>
          </p:nvPr>
        </p:nvSpPr>
        <p:spPr/>
        <p:txBody>
          <a:bodyPr/>
          <a:lstStyle/>
          <a:p>
            <a:fld id="{5B6CA15B-6ACA-45B3-AAB1-CB176BBE2D19}" type="datetimeFigureOut">
              <a:rPr lang="en-US" smtClean="0"/>
              <a:t>1/3/2025</a:t>
            </a:fld>
            <a:endParaRPr lang="en-US"/>
          </a:p>
        </p:txBody>
      </p:sp>
      <p:sp>
        <p:nvSpPr>
          <p:cNvPr id="5" name="Footer Placeholder 4">
            <a:extLst>
              <a:ext uri="{FF2B5EF4-FFF2-40B4-BE49-F238E27FC236}">
                <a16:creationId xmlns:a16="http://schemas.microsoft.com/office/drawing/2014/main" id="{C6D21719-9D0A-493D-31DA-6EB27BBF3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154DC-6E04-1F0F-7823-A0DC31CC8C25}"/>
              </a:ext>
            </a:extLst>
          </p:cNvPr>
          <p:cNvSpPr>
            <a:spLocks noGrp="1"/>
          </p:cNvSpPr>
          <p:nvPr>
            <p:ph type="sldNum" sz="quarter" idx="12"/>
          </p:nvPr>
        </p:nvSpPr>
        <p:spPr/>
        <p:txBody>
          <a:bodyPr/>
          <a:lstStyle/>
          <a:p>
            <a:fld id="{1DF6F28B-5221-4ED1-B752-A68874C42D0D}" type="slidenum">
              <a:rPr lang="en-US" smtClean="0"/>
              <a:t>‹#›</a:t>
            </a:fld>
            <a:endParaRPr lang="en-US"/>
          </a:p>
        </p:txBody>
      </p:sp>
    </p:spTree>
    <p:extLst>
      <p:ext uri="{BB962C8B-B14F-4D97-AF65-F5344CB8AC3E}">
        <p14:creationId xmlns:p14="http://schemas.microsoft.com/office/powerpoint/2010/main" val="1654706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2A825-31B6-9B43-2581-1960FB99A3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A18D02-658C-5887-67E7-8F48B36EB0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92036-BC54-8C12-4E94-53237A399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6CA15B-6ACA-45B3-AAB1-CB176BBE2D19}" type="datetimeFigureOut">
              <a:rPr lang="en-US" smtClean="0"/>
              <a:t>1/3/2025</a:t>
            </a:fld>
            <a:endParaRPr lang="en-US"/>
          </a:p>
        </p:txBody>
      </p:sp>
      <p:sp>
        <p:nvSpPr>
          <p:cNvPr id="5" name="Footer Placeholder 4">
            <a:extLst>
              <a:ext uri="{FF2B5EF4-FFF2-40B4-BE49-F238E27FC236}">
                <a16:creationId xmlns:a16="http://schemas.microsoft.com/office/drawing/2014/main" id="{FB25A94B-14D3-6DAC-4230-22B00F4E6E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6D4E93-EF4F-E07D-7B83-8FB6012354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F6F28B-5221-4ED1-B752-A68874C42D0D}" type="slidenum">
              <a:rPr lang="en-US" smtClean="0"/>
              <a:t>‹#›</a:t>
            </a:fld>
            <a:endParaRPr lang="en-US"/>
          </a:p>
        </p:txBody>
      </p:sp>
    </p:spTree>
    <p:extLst>
      <p:ext uri="{BB962C8B-B14F-4D97-AF65-F5344CB8AC3E}">
        <p14:creationId xmlns:p14="http://schemas.microsoft.com/office/powerpoint/2010/main" val="653516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svg"/><Relationship Id="rId10" Type="http://schemas.openxmlformats.org/officeDocument/2006/relationships/image" Target="../media/image7.svg"/><Relationship Id="rId4" Type="http://schemas.openxmlformats.org/officeDocument/2006/relationships/image" Target="../media/image12.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5.png"/><Relationship Id="rId3" Type="http://schemas.openxmlformats.org/officeDocument/2006/relationships/image" Target="../media/image11.png"/><Relationship Id="rId7" Type="http://schemas.openxmlformats.org/officeDocument/2006/relationships/image" Target="../media/image15.svg"/><Relationship Id="rId12"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440.png"/><Relationship Id="rId5" Type="http://schemas.openxmlformats.org/officeDocument/2006/relationships/image" Target="../media/image13.svg"/><Relationship Id="rId10" Type="http://schemas.openxmlformats.org/officeDocument/2006/relationships/image" Target="../media/image10.svg"/><Relationship Id="rId4" Type="http://schemas.openxmlformats.org/officeDocument/2006/relationships/image" Target="../media/image12.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400.png"/><Relationship Id="rId13"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15.svg"/><Relationship Id="rId12"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6.pn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20.png"/><Relationship Id="rId5" Type="http://schemas.openxmlformats.org/officeDocument/2006/relationships/image" Target="../media/image9.png"/><Relationship Id="rId10" Type="http://schemas.openxmlformats.org/officeDocument/2006/relationships/image" Target="../media/image50.png"/><Relationship Id="rId4" Type="http://schemas.openxmlformats.org/officeDocument/2006/relationships/image" Target="../media/image4.svg"/><Relationship Id="rId9" Type="http://schemas.openxmlformats.org/officeDocument/2006/relationships/image" Target="../media/image49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283B9-A3A3-4BD8-13E9-8BA44C58C0F9}"/>
              </a:ext>
            </a:extLst>
          </p:cNvPr>
          <p:cNvSpPr>
            <a:spLocks noGrp="1"/>
          </p:cNvSpPr>
          <p:nvPr>
            <p:ph type="ctrTitle"/>
          </p:nvPr>
        </p:nvSpPr>
        <p:spPr/>
        <p:txBody>
          <a:bodyPr/>
          <a:lstStyle/>
          <a:p>
            <a:r>
              <a:rPr lang="en-US" dirty="0"/>
              <a:t>ABM handoff</a:t>
            </a:r>
          </a:p>
        </p:txBody>
      </p:sp>
      <p:sp>
        <p:nvSpPr>
          <p:cNvPr id="3" name="Subtitle 2">
            <a:extLst>
              <a:ext uri="{FF2B5EF4-FFF2-40B4-BE49-F238E27FC236}">
                <a16:creationId xmlns:a16="http://schemas.microsoft.com/office/drawing/2014/main" id="{276F557E-5595-97B6-E564-A2469768E62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70151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52553-82DB-604E-7285-0C10725773D5}"/>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E3B9FACA-FAA7-5035-563D-149EB827194F}"/>
              </a:ext>
            </a:extLst>
          </p:cNvPr>
          <p:cNvSpPr>
            <a:spLocks noGrp="1"/>
          </p:cNvSpPr>
          <p:nvPr>
            <p:ph idx="1"/>
          </p:nvPr>
        </p:nvSpPr>
        <p:spPr/>
        <p:txBody>
          <a:bodyPr/>
          <a:lstStyle/>
          <a:p>
            <a:r>
              <a:rPr lang="en-US" dirty="0"/>
              <a:t>The grandiose plans</a:t>
            </a:r>
          </a:p>
          <a:p>
            <a:r>
              <a:rPr lang="en-US" dirty="0"/>
              <a:t>The reality so far</a:t>
            </a:r>
          </a:p>
          <a:p>
            <a:r>
              <a:rPr lang="en-US" dirty="0"/>
              <a:t>ABM overview and details</a:t>
            </a:r>
          </a:p>
          <a:p>
            <a:r>
              <a:rPr lang="en-US" dirty="0"/>
              <a:t>Visualizing output</a:t>
            </a:r>
          </a:p>
          <a:p>
            <a:r>
              <a:rPr lang="en-US" dirty="0"/>
              <a:t>Pattern matching</a:t>
            </a:r>
          </a:p>
          <a:p>
            <a:endParaRPr lang="en-US" dirty="0"/>
          </a:p>
          <a:p>
            <a:endParaRPr lang="en-US" dirty="0"/>
          </a:p>
        </p:txBody>
      </p:sp>
    </p:spTree>
    <p:extLst>
      <p:ext uri="{BB962C8B-B14F-4D97-AF65-F5344CB8AC3E}">
        <p14:creationId xmlns:p14="http://schemas.microsoft.com/office/powerpoint/2010/main" val="10887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63A26-6ED0-2593-45D7-017C9C86A3FF}"/>
              </a:ext>
            </a:extLst>
          </p:cNvPr>
          <p:cNvSpPr>
            <a:spLocks noGrp="1"/>
          </p:cNvSpPr>
          <p:nvPr>
            <p:ph type="title"/>
          </p:nvPr>
        </p:nvSpPr>
        <p:spPr/>
        <p:txBody>
          <a:bodyPr>
            <a:normAutofit/>
          </a:bodyPr>
          <a:lstStyle/>
          <a:p>
            <a:r>
              <a:rPr lang="en-US" sz="2800" dirty="0"/>
              <a:t>Forecasting angler responses to slow environmental change</a:t>
            </a:r>
          </a:p>
        </p:txBody>
      </p:sp>
      <p:graphicFrame>
        <p:nvGraphicFramePr>
          <p:cNvPr id="4" name="Table 3">
            <a:extLst>
              <a:ext uri="{FF2B5EF4-FFF2-40B4-BE49-F238E27FC236}">
                <a16:creationId xmlns:a16="http://schemas.microsoft.com/office/drawing/2014/main" id="{1FB0E18E-777F-476A-78A6-BD5A58211F60}"/>
              </a:ext>
            </a:extLst>
          </p:cNvPr>
          <p:cNvGraphicFramePr>
            <a:graphicFrameLocks noGrp="1"/>
          </p:cNvGraphicFramePr>
          <p:nvPr/>
        </p:nvGraphicFramePr>
        <p:xfrm>
          <a:off x="965199" y="1502448"/>
          <a:ext cx="10284690" cy="471825"/>
        </p:xfrm>
        <a:graphic>
          <a:graphicData uri="http://schemas.openxmlformats.org/drawingml/2006/table">
            <a:tbl>
              <a:tblPr firstRow="1" bandRow="1">
                <a:tableStyleId>{00A15C55-8517-42AA-B614-E9B94910E393}</a:tableStyleId>
              </a:tblPr>
              <a:tblGrid>
                <a:gridCol w="3428230">
                  <a:extLst>
                    <a:ext uri="{9D8B030D-6E8A-4147-A177-3AD203B41FA5}">
                      <a16:colId xmlns:a16="http://schemas.microsoft.com/office/drawing/2014/main" val="2651312309"/>
                    </a:ext>
                  </a:extLst>
                </a:gridCol>
                <a:gridCol w="3428230">
                  <a:extLst>
                    <a:ext uri="{9D8B030D-6E8A-4147-A177-3AD203B41FA5}">
                      <a16:colId xmlns:a16="http://schemas.microsoft.com/office/drawing/2014/main" val="2412696747"/>
                    </a:ext>
                  </a:extLst>
                </a:gridCol>
                <a:gridCol w="3428230">
                  <a:extLst>
                    <a:ext uri="{9D8B030D-6E8A-4147-A177-3AD203B41FA5}">
                      <a16:colId xmlns:a16="http://schemas.microsoft.com/office/drawing/2014/main" val="2532688711"/>
                    </a:ext>
                  </a:extLst>
                </a:gridCol>
              </a:tblGrid>
              <a:tr h="471825">
                <a:tc>
                  <a:txBody>
                    <a:bodyPr/>
                    <a:lstStyle/>
                    <a:p>
                      <a:r>
                        <a:rPr lang="en-US" dirty="0"/>
                        <a:t>Past (1980-2000)</a:t>
                      </a:r>
                    </a:p>
                  </a:txBody>
                  <a:tcPr/>
                </a:tc>
                <a:tc>
                  <a:txBody>
                    <a:bodyPr/>
                    <a:lstStyle/>
                    <a:p>
                      <a:r>
                        <a:rPr lang="en-US" dirty="0"/>
                        <a:t>Recent past (2000-2020)</a:t>
                      </a:r>
                    </a:p>
                  </a:txBody>
                  <a:tcPr/>
                </a:tc>
                <a:tc>
                  <a:txBody>
                    <a:bodyPr/>
                    <a:lstStyle/>
                    <a:p>
                      <a:r>
                        <a:rPr lang="en-US" dirty="0"/>
                        <a:t>Future (2020-2050)</a:t>
                      </a:r>
                    </a:p>
                  </a:txBody>
                  <a:tcPr/>
                </a:tc>
                <a:extLst>
                  <a:ext uri="{0D108BD9-81ED-4DB2-BD59-A6C34878D82A}">
                    <a16:rowId xmlns:a16="http://schemas.microsoft.com/office/drawing/2014/main" val="1095094131"/>
                  </a:ext>
                </a:extLst>
              </a:tr>
            </a:tbl>
          </a:graphicData>
        </a:graphic>
      </p:graphicFrame>
      <p:cxnSp>
        <p:nvCxnSpPr>
          <p:cNvPr id="11" name="Straight Arrow Connector 10">
            <a:extLst>
              <a:ext uri="{FF2B5EF4-FFF2-40B4-BE49-F238E27FC236}">
                <a16:creationId xmlns:a16="http://schemas.microsoft.com/office/drawing/2014/main" id="{A7F0FCE9-FE91-5E50-ED5A-4838DBD3CC07}"/>
              </a:ext>
            </a:extLst>
          </p:cNvPr>
          <p:cNvCxnSpPr/>
          <p:nvPr/>
        </p:nvCxnSpPr>
        <p:spPr>
          <a:xfrm>
            <a:off x="3243600" y="3413210"/>
            <a:ext cx="52488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2" name="Arrow: Right 11">
            <a:extLst>
              <a:ext uri="{FF2B5EF4-FFF2-40B4-BE49-F238E27FC236}">
                <a16:creationId xmlns:a16="http://schemas.microsoft.com/office/drawing/2014/main" id="{5860A84D-02AB-3C98-4B9A-60EB922523CD}"/>
              </a:ext>
            </a:extLst>
          </p:cNvPr>
          <p:cNvSpPr/>
          <p:nvPr/>
        </p:nvSpPr>
        <p:spPr>
          <a:xfrm rot="16200000">
            <a:off x="6324782" y="3746303"/>
            <a:ext cx="411236" cy="374400"/>
          </a:xfrm>
          <a:prstGeom prst="rightArrow">
            <a:avLst/>
          </a:prstGeom>
          <a:solidFill>
            <a:srgbClr val="C0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83D002E-F1D3-882F-8691-A2C55CA148EA}"/>
              </a:ext>
            </a:extLst>
          </p:cNvPr>
          <p:cNvSpPr txBox="1"/>
          <p:nvPr/>
        </p:nvSpPr>
        <p:spPr>
          <a:xfrm>
            <a:off x="6904800" y="3610338"/>
            <a:ext cx="2134800" cy="646331"/>
          </a:xfrm>
          <a:prstGeom prst="rect">
            <a:avLst/>
          </a:prstGeom>
          <a:noFill/>
        </p:spPr>
        <p:txBody>
          <a:bodyPr wrap="square" rtlCol="0">
            <a:spAutoFit/>
          </a:bodyPr>
          <a:lstStyle/>
          <a:p>
            <a:r>
              <a:rPr lang="en-US" dirty="0"/>
              <a:t>Prob. Walleye recruitment failure</a:t>
            </a:r>
          </a:p>
        </p:txBody>
      </p:sp>
      <p:sp>
        <p:nvSpPr>
          <p:cNvPr id="15" name="Arrow: Right 14">
            <a:extLst>
              <a:ext uri="{FF2B5EF4-FFF2-40B4-BE49-F238E27FC236}">
                <a16:creationId xmlns:a16="http://schemas.microsoft.com/office/drawing/2014/main" id="{DD929917-CD40-5468-E901-FBC6BF4A21FC}"/>
              </a:ext>
            </a:extLst>
          </p:cNvPr>
          <p:cNvSpPr/>
          <p:nvPr/>
        </p:nvSpPr>
        <p:spPr>
          <a:xfrm rot="5400000">
            <a:off x="6324782" y="4477530"/>
            <a:ext cx="411237" cy="374401"/>
          </a:xfrm>
          <a:prstGeom prst="rightArrow">
            <a:avLst/>
          </a:prstGeom>
          <a:solidFill>
            <a:srgbClr val="C0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30F2CE3-18AA-C6A0-D005-D365C525E939}"/>
              </a:ext>
            </a:extLst>
          </p:cNvPr>
          <p:cNvSpPr txBox="1"/>
          <p:nvPr/>
        </p:nvSpPr>
        <p:spPr>
          <a:xfrm>
            <a:off x="6904800" y="4450864"/>
            <a:ext cx="2134800" cy="369332"/>
          </a:xfrm>
          <a:prstGeom prst="rect">
            <a:avLst/>
          </a:prstGeom>
          <a:noFill/>
        </p:spPr>
        <p:txBody>
          <a:bodyPr wrap="square" rtlCol="0">
            <a:spAutoFit/>
          </a:bodyPr>
          <a:lstStyle/>
          <a:p>
            <a:r>
              <a:rPr lang="en-US" dirty="0"/>
              <a:t>Age at maturity</a:t>
            </a:r>
          </a:p>
        </p:txBody>
      </p:sp>
      <p:sp>
        <p:nvSpPr>
          <p:cNvPr id="17" name="TextBox 16">
            <a:extLst>
              <a:ext uri="{FF2B5EF4-FFF2-40B4-BE49-F238E27FC236}">
                <a16:creationId xmlns:a16="http://schemas.microsoft.com/office/drawing/2014/main" id="{4A30067A-80A7-F631-4F6B-E63192DE6B7F}"/>
              </a:ext>
            </a:extLst>
          </p:cNvPr>
          <p:cNvSpPr txBox="1"/>
          <p:nvPr/>
        </p:nvSpPr>
        <p:spPr>
          <a:xfrm>
            <a:off x="6904800" y="5170886"/>
            <a:ext cx="2134800" cy="369332"/>
          </a:xfrm>
          <a:prstGeom prst="rect">
            <a:avLst/>
          </a:prstGeom>
          <a:noFill/>
        </p:spPr>
        <p:txBody>
          <a:bodyPr wrap="square" rtlCol="0">
            <a:spAutoFit/>
          </a:bodyPr>
          <a:lstStyle/>
          <a:p>
            <a:r>
              <a:rPr lang="en-US" dirty="0"/>
              <a:t>Natural mortality</a:t>
            </a:r>
          </a:p>
        </p:txBody>
      </p:sp>
      <p:sp>
        <p:nvSpPr>
          <p:cNvPr id="18" name="Arrow: Right 17">
            <a:extLst>
              <a:ext uri="{FF2B5EF4-FFF2-40B4-BE49-F238E27FC236}">
                <a16:creationId xmlns:a16="http://schemas.microsoft.com/office/drawing/2014/main" id="{79EDD0AE-6FEA-8BD7-A680-8349DF2EA093}"/>
              </a:ext>
            </a:extLst>
          </p:cNvPr>
          <p:cNvSpPr/>
          <p:nvPr/>
        </p:nvSpPr>
        <p:spPr>
          <a:xfrm rot="16200000">
            <a:off x="6345734" y="5113432"/>
            <a:ext cx="369332" cy="374400"/>
          </a:xfrm>
          <a:prstGeom prst="rightArrow">
            <a:avLst/>
          </a:prstGeom>
          <a:solidFill>
            <a:srgbClr val="C0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19" name="Picture 14" descr="illustration of a Walleye">
            <a:extLst>
              <a:ext uri="{FF2B5EF4-FFF2-40B4-BE49-F238E27FC236}">
                <a16:creationId xmlns:a16="http://schemas.microsoft.com/office/drawing/2014/main" id="{10894983-E83D-0649-C0E5-48588A8071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16432" y="5626726"/>
            <a:ext cx="2142512" cy="81026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llustration of a Bluegill">
            <a:extLst>
              <a:ext uri="{FF2B5EF4-FFF2-40B4-BE49-F238E27FC236}">
                <a16:creationId xmlns:a16="http://schemas.microsoft.com/office/drawing/2014/main" id="{FB2E339E-2D68-85F9-1543-38756F6FDAF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26053" y="4548747"/>
            <a:ext cx="1492832" cy="923437"/>
          </a:xfrm>
          <a:prstGeom prst="rect">
            <a:avLst/>
          </a:prstGeom>
          <a:noFill/>
          <a:extLst>
            <a:ext uri="{909E8E84-426E-40DD-AFC4-6F175D3DCCD1}">
              <a14:hiddenFill xmlns:a14="http://schemas.microsoft.com/office/drawing/2010/main">
                <a:solidFill>
                  <a:srgbClr val="FFFFFF"/>
                </a:solidFill>
              </a14:hiddenFill>
            </a:ext>
          </a:extLst>
        </p:spPr>
      </p:pic>
      <p:sp>
        <p:nvSpPr>
          <p:cNvPr id="21" name="Arrow: Right 20">
            <a:extLst>
              <a:ext uri="{FF2B5EF4-FFF2-40B4-BE49-F238E27FC236}">
                <a16:creationId xmlns:a16="http://schemas.microsoft.com/office/drawing/2014/main" id="{D8CB76AF-7112-C93B-85A4-A4E7AE510D21}"/>
              </a:ext>
            </a:extLst>
          </p:cNvPr>
          <p:cNvSpPr/>
          <p:nvPr/>
        </p:nvSpPr>
        <p:spPr>
          <a:xfrm rot="16200000">
            <a:off x="3130035" y="3806669"/>
            <a:ext cx="411236" cy="374400"/>
          </a:xfrm>
          <a:prstGeom prst="rightArrow">
            <a:avLst/>
          </a:prstGeom>
          <a:solidFill>
            <a:schemeClr val="accent6"/>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6602146-5863-E659-2390-16A47007EBF9}"/>
              </a:ext>
            </a:extLst>
          </p:cNvPr>
          <p:cNvSpPr txBox="1"/>
          <p:nvPr/>
        </p:nvSpPr>
        <p:spPr>
          <a:xfrm>
            <a:off x="3702541" y="3809203"/>
            <a:ext cx="2134800" cy="369332"/>
          </a:xfrm>
          <a:prstGeom prst="rect">
            <a:avLst/>
          </a:prstGeom>
          <a:noFill/>
        </p:spPr>
        <p:txBody>
          <a:bodyPr wrap="square" rtlCol="0">
            <a:spAutoFit/>
          </a:bodyPr>
          <a:lstStyle/>
          <a:p>
            <a:r>
              <a:rPr lang="en-US" dirty="0"/>
              <a:t>Growth</a:t>
            </a:r>
          </a:p>
        </p:txBody>
      </p:sp>
      <p:sp>
        <p:nvSpPr>
          <p:cNvPr id="5" name="Rectangle 4">
            <a:extLst>
              <a:ext uri="{FF2B5EF4-FFF2-40B4-BE49-F238E27FC236}">
                <a16:creationId xmlns:a16="http://schemas.microsoft.com/office/drawing/2014/main" id="{7ED63FC0-80B6-4933-7778-C213E7FCBC9D}"/>
              </a:ext>
            </a:extLst>
          </p:cNvPr>
          <p:cNvSpPr/>
          <p:nvPr/>
        </p:nvSpPr>
        <p:spPr>
          <a:xfrm>
            <a:off x="965199" y="2165131"/>
            <a:ext cx="6875518" cy="471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Groundtruthing: walleye and bluegill fishing effort, walleye populations, exploitation</a:t>
            </a:r>
          </a:p>
        </p:txBody>
      </p:sp>
      <p:sp>
        <p:nvSpPr>
          <p:cNvPr id="7" name="Rectangle 6">
            <a:extLst>
              <a:ext uri="{FF2B5EF4-FFF2-40B4-BE49-F238E27FC236}">
                <a16:creationId xmlns:a16="http://schemas.microsoft.com/office/drawing/2014/main" id="{E5F63ECD-A493-3C28-049E-FA3D2DD103D9}"/>
              </a:ext>
            </a:extLst>
          </p:cNvPr>
          <p:cNvSpPr/>
          <p:nvPr/>
        </p:nvSpPr>
        <p:spPr>
          <a:xfrm>
            <a:off x="7840717" y="2165131"/>
            <a:ext cx="3409172" cy="46979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Forecasting: No walleye stocking</a:t>
            </a:r>
          </a:p>
        </p:txBody>
      </p:sp>
      <p:sp>
        <p:nvSpPr>
          <p:cNvPr id="8" name="Rectangle 7">
            <a:extLst>
              <a:ext uri="{FF2B5EF4-FFF2-40B4-BE49-F238E27FC236}">
                <a16:creationId xmlns:a16="http://schemas.microsoft.com/office/drawing/2014/main" id="{945AAE01-F462-4972-C4CF-77717DEE3125}"/>
              </a:ext>
            </a:extLst>
          </p:cNvPr>
          <p:cNvSpPr/>
          <p:nvPr/>
        </p:nvSpPr>
        <p:spPr>
          <a:xfrm>
            <a:off x="7840717" y="2777865"/>
            <a:ext cx="3409172" cy="46979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Forecasting: Yes walleye stocking</a:t>
            </a:r>
          </a:p>
        </p:txBody>
      </p:sp>
    </p:spTree>
    <p:extLst>
      <p:ext uri="{BB962C8B-B14F-4D97-AF65-F5344CB8AC3E}">
        <p14:creationId xmlns:p14="http://schemas.microsoft.com/office/powerpoint/2010/main" val="428153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P spid="15" grpId="0" animBg="1"/>
      <p:bldP spid="16" grpId="0"/>
      <p:bldP spid="17" grpId="0"/>
      <p:bldP spid="18" grpId="0" animBg="1"/>
      <p:bldP spid="21" grpId="0" animBg="1"/>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BD2CA7-124B-493A-7511-966F1ADB127E}"/>
              </a:ext>
            </a:extLst>
          </p:cNvPr>
          <p:cNvSpPr/>
          <p:nvPr/>
        </p:nvSpPr>
        <p:spPr>
          <a:xfrm>
            <a:off x="2719846" y="773558"/>
            <a:ext cx="1640541"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 Catchability: partitioning variance btw lake, environmental conditions, angler identity</a:t>
            </a:r>
          </a:p>
        </p:txBody>
      </p:sp>
      <p:sp>
        <p:nvSpPr>
          <p:cNvPr id="11" name="Rectangle 10">
            <a:extLst>
              <a:ext uri="{FF2B5EF4-FFF2-40B4-BE49-F238E27FC236}">
                <a16:creationId xmlns:a16="http://schemas.microsoft.com/office/drawing/2014/main" id="{3F113646-94D2-23FE-3DE5-2A81EDCC2C7B}"/>
              </a:ext>
            </a:extLst>
          </p:cNvPr>
          <p:cNvSpPr/>
          <p:nvPr/>
        </p:nvSpPr>
        <p:spPr>
          <a:xfrm>
            <a:off x="2719845" y="3025468"/>
            <a:ext cx="1640541"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 Angler decisions: Revealed preference analysis of participation, species choice, and travel vs. expected catch</a:t>
            </a:r>
          </a:p>
        </p:txBody>
      </p:sp>
      <p:cxnSp>
        <p:nvCxnSpPr>
          <p:cNvPr id="13" name="Straight Arrow Connector 12">
            <a:extLst>
              <a:ext uri="{FF2B5EF4-FFF2-40B4-BE49-F238E27FC236}">
                <a16:creationId xmlns:a16="http://schemas.microsoft.com/office/drawing/2014/main" id="{7653C0E3-E94F-75DF-4159-A2C21E6D835C}"/>
              </a:ext>
            </a:extLst>
          </p:cNvPr>
          <p:cNvCxnSpPr/>
          <p:nvPr/>
        </p:nvCxnSpPr>
        <p:spPr>
          <a:xfrm>
            <a:off x="3062039" y="1916558"/>
            <a:ext cx="0" cy="1109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EF68008-4268-AA6F-E802-C42D11BFB851}"/>
              </a:ext>
            </a:extLst>
          </p:cNvPr>
          <p:cNvSpPr txBox="1"/>
          <p:nvPr/>
        </p:nvSpPr>
        <p:spPr>
          <a:xfrm>
            <a:off x="3062039" y="2153886"/>
            <a:ext cx="1690433" cy="430887"/>
          </a:xfrm>
          <a:prstGeom prst="rect">
            <a:avLst/>
          </a:prstGeom>
          <a:noFill/>
        </p:spPr>
        <p:txBody>
          <a:bodyPr wrap="square" rtlCol="0">
            <a:spAutoFit/>
          </a:bodyPr>
          <a:lstStyle/>
          <a:p>
            <a:r>
              <a:rPr lang="en-US" sz="1100" dirty="0"/>
              <a:t>(Provides catchability estimates/distributions)</a:t>
            </a:r>
          </a:p>
        </p:txBody>
      </p:sp>
      <p:sp>
        <p:nvSpPr>
          <p:cNvPr id="15" name="Rectangle 14">
            <a:extLst>
              <a:ext uri="{FF2B5EF4-FFF2-40B4-BE49-F238E27FC236}">
                <a16:creationId xmlns:a16="http://schemas.microsoft.com/office/drawing/2014/main" id="{F1A76F97-F78A-5695-5183-52A2FA4A430D}"/>
              </a:ext>
            </a:extLst>
          </p:cNvPr>
          <p:cNvSpPr/>
          <p:nvPr/>
        </p:nvSpPr>
        <p:spPr>
          <a:xfrm>
            <a:off x="2719844" y="4970573"/>
            <a:ext cx="1640541" cy="1143000"/>
          </a:xfrm>
          <a:prstGeom prst="rect">
            <a:avLst/>
          </a:prstGeom>
          <a:ln>
            <a:prstDash val="sysDash"/>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GLMM-predicted walleye population estimates (Hansen et al 2015 NAJFM)</a:t>
            </a:r>
          </a:p>
        </p:txBody>
      </p:sp>
      <p:sp>
        <p:nvSpPr>
          <p:cNvPr id="17" name="TextBox 16">
            <a:extLst>
              <a:ext uri="{FF2B5EF4-FFF2-40B4-BE49-F238E27FC236}">
                <a16:creationId xmlns:a16="http://schemas.microsoft.com/office/drawing/2014/main" id="{92BA5B21-9D98-357F-8F29-D2E70883DB73}"/>
              </a:ext>
            </a:extLst>
          </p:cNvPr>
          <p:cNvSpPr txBox="1"/>
          <p:nvPr/>
        </p:nvSpPr>
        <p:spPr>
          <a:xfrm>
            <a:off x="409249" y="1021484"/>
            <a:ext cx="2016352" cy="738664"/>
          </a:xfrm>
          <a:prstGeom prst="rect">
            <a:avLst/>
          </a:prstGeom>
          <a:solidFill>
            <a:schemeClr val="accent5"/>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solidFill>
                  <a:schemeClr val="bg1"/>
                </a:solidFill>
              </a:rPr>
              <a:t>WDNR creel data</a:t>
            </a:r>
          </a:p>
          <a:p>
            <a:r>
              <a:rPr lang="en-US" sz="1400" dirty="0" err="1">
                <a:solidFill>
                  <a:schemeClr val="bg1"/>
                </a:solidFill>
              </a:rPr>
              <a:t>FishScapes</a:t>
            </a:r>
            <a:r>
              <a:rPr lang="en-US" sz="1400" dirty="0">
                <a:solidFill>
                  <a:schemeClr val="bg1"/>
                </a:solidFill>
              </a:rPr>
              <a:t> experimental angling</a:t>
            </a:r>
          </a:p>
        </p:txBody>
      </p:sp>
      <p:sp>
        <p:nvSpPr>
          <p:cNvPr id="18" name="TextBox 17">
            <a:extLst>
              <a:ext uri="{FF2B5EF4-FFF2-40B4-BE49-F238E27FC236}">
                <a16:creationId xmlns:a16="http://schemas.microsoft.com/office/drawing/2014/main" id="{0C6F2306-5920-5119-ABCD-7DD4381FD573}"/>
              </a:ext>
            </a:extLst>
          </p:cNvPr>
          <p:cNvSpPr txBox="1"/>
          <p:nvPr/>
        </p:nvSpPr>
        <p:spPr>
          <a:xfrm>
            <a:off x="479610" y="3227636"/>
            <a:ext cx="1774658" cy="738664"/>
          </a:xfrm>
          <a:prstGeom prst="rect">
            <a:avLst/>
          </a:prstGeom>
          <a:solidFill>
            <a:schemeClr val="accent5"/>
          </a:solidFill>
          <a:ln>
            <a:solidFill>
              <a:schemeClr val="tx1"/>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1400" dirty="0">
                <a:solidFill>
                  <a:schemeClr val="bg1"/>
                </a:solidFill>
              </a:rPr>
              <a:t>WDNR angler diaries</a:t>
            </a:r>
          </a:p>
          <a:p>
            <a:r>
              <a:rPr lang="en-US" sz="1400" dirty="0" err="1">
                <a:solidFill>
                  <a:schemeClr val="bg1"/>
                </a:solidFill>
              </a:rPr>
              <a:t>FishScapes</a:t>
            </a:r>
            <a:r>
              <a:rPr lang="en-US" sz="1400" dirty="0">
                <a:solidFill>
                  <a:schemeClr val="bg1"/>
                </a:solidFill>
              </a:rPr>
              <a:t> creel surveys</a:t>
            </a:r>
          </a:p>
        </p:txBody>
      </p:sp>
      <p:sp>
        <p:nvSpPr>
          <p:cNvPr id="19" name="TextBox 18">
            <a:extLst>
              <a:ext uri="{FF2B5EF4-FFF2-40B4-BE49-F238E27FC236}">
                <a16:creationId xmlns:a16="http://schemas.microsoft.com/office/drawing/2014/main" id="{6377F876-D537-C773-9976-8BAEFDDCC116}"/>
              </a:ext>
            </a:extLst>
          </p:cNvPr>
          <p:cNvSpPr txBox="1"/>
          <p:nvPr/>
        </p:nvSpPr>
        <p:spPr>
          <a:xfrm>
            <a:off x="2684811" y="6165456"/>
            <a:ext cx="1774658" cy="738664"/>
          </a:xfrm>
          <a:prstGeom prst="rect">
            <a:avLst/>
          </a:prstGeom>
          <a:noFill/>
        </p:spPr>
        <p:txBody>
          <a:bodyPr wrap="square" rtlCol="0">
            <a:spAutoFit/>
          </a:bodyPr>
          <a:lstStyle/>
          <a:p>
            <a:r>
              <a:rPr lang="en-US" sz="1400" dirty="0"/>
              <a:t>(Don’t yet have access—who to contact?)</a:t>
            </a:r>
          </a:p>
        </p:txBody>
      </p:sp>
      <p:cxnSp>
        <p:nvCxnSpPr>
          <p:cNvPr id="21" name="Straight Arrow Connector 20">
            <a:extLst>
              <a:ext uri="{FF2B5EF4-FFF2-40B4-BE49-F238E27FC236}">
                <a16:creationId xmlns:a16="http://schemas.microsoft.com/office/drawing/2014/main" id="{F597CFAD-F941-847D-AC63-4E317B1ACE22}"/>
              </a:ext>
            </a:extLst>
          </p:cNvPr>
          <p:cNvCxnSpPr/>
          <p:nvPr/>
        </p:nvCxnSpPr>
        <p:spPr>
          <a:xfrm flipV="1">
            <a:off x="3062039" y="4168468"/>
            <a:ext cx="0" cy="80210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2" name="TextBox 21">
            <a:extLst>
              <a:ext uri="{FF2B5EF4-FFF2-40B4-BE49-F238E27FC236}">
                <a16:creationId xmlns:a16="http://schemas.microsoft.com/office/drawing/2014/main" id="{FDDD2DA1-C053-A8AE-7D43-24A749D58C23}"/>
              </a:ext>
            </a:extLst>
          </p:cNvPr>
          <p:cNvSpPr txBox="1"/>
          <p:nvPr/>
        </p:nvSpPr>
        <p:spPr>
          <a:xfrm>
            <a:off x="3036912" y="4354077"/>
            <a:ext cx="1323473" cy="430887"/>
          </a:xfrm>
          <a:prstGeom prst="rect">
            <a:avLst/>
          </a:prstGeom>
          <a:noFill/>
        </p:spPr>
        <p:txBody>
          <a:bodyPr wrap="square" rtlCol="0">
            <a:spAutoFit/>
          </a:bodyPr>
          <a:lstStyle/>
          <a:p>
            <a:r>
              <a:rPr lang="en-US" sz="1100" dirty="0"/>
              <a:t>(Provides </a:t>
            </a:r>
            <a:r>
              <a:rPr lang="en-US" sz="1100" dirty="0" err="1"/>
              <a:t>unsurveyed</a:t>
            </a:r>
            <a:r>
              <a:rPr lang="en-US" sz="1100" dirty="0"/>
              <a:t> PE)</a:t>
            </a:r>
          </a:p>
        </p:txBody>
      </p:sp>
      <p:sp>
        <p:nvSpPr>
          <p:cNvPr id="23" name="Rectangle 22">
            <a:extLst>
              <a:ext uri="{FF2B5EF4-FFF2-40B4-BE49-F238E27FC236}">
                <a16:creationId xmlns:a16="http://schemas.microsoft.com/office/drawing/2014/main" id="{9E2DBD5F-3369-462C-7163-A210161CEDAA}"/>
              </a:ext>
            </a:extLst>
          </p:cNvPr>
          <p:cNvSpPr/>
          <p:nvPr/>
        </p:nvSpPr>
        <p:spPr>
          <a:xfrm>
            <a:off x="7104649" y="1916558"/>
            <a:ext cx="1497931" cy="9529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 IBM</a:t>
            </a:r>
          </a:p>
        </p:txBody>
      </p:sp>
      <p:cxnSp>
        <p:nvCxnSpPr>
          <p:cNvPr id="25" name="Straight Arrow Connector 24">
            <a:extLst>
              <a:ext uri="{FF2B5EF4-FFF2-40B4-BE49-F238E27FC236}">
                <a16:creationId xmlns:a16="http://schemas.microsoft.com/office/drawing/2014/main" id="{2C16619F-16AA-BAB8-6CA5-E4685E3B1D75}"/>
              </a:ext>
            </a:extLst>
          </p:cNvPr>
          <p:cNvCxnSpPr>
            <a:endCxn id="23" idx="1"/>
          </p:cNvCxnSpPr>
          <p:nvPr/>
        </p:nvCxnSpPr>
        <p:spPr>
          <a:xfrm>
            <a:off x="4360385" y="1760148"/>
            <a:ext cx="2744264" cy="632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DD058F2-94EB-124A-5CF4-E41CB511110A}"/>
              </a:ext>
            </a:extLst>
          </p:cNvPr>
          <p:cNvSpPr txBox="1"/>
          <p:nvPr/>
        </p:nvSpPr>
        <p:spPr>
          <a:xfrm>
            <a:off x="5192691" y="2177600"/>
            <a:ext cx="1323473" cy="430887"/>
          </a:xfrm>
          <a:prstGeom prst="rect">
            <a:avLst/>
          </a:prstGeom>
          <a:noFill/>
        </p:spPr>
        <p:txBody>
          <a:bodyPr wrap="square" rtlCol="0">
            <a:spAutoFit/>
          </a:bodyPr>
          <a:lstStyle/>
          <a:p>
            <a:r>
              <a:rPr lang="en-US" sz="1100" dirty="0"/>
              <a:t>(Informing catchability)</a:t>
            </a:r>
          </a:p>
        </p:txBody>
      </p:sp>
      <p:cxnSp>
        <p:nvCxnSpPr>
          <p:cNvPr id="27" name="Straight Arrow Connector 26">
            <a:extLst>
              <a:ext uri="{FF2B5EF4-FFF2-40B4-BE49-F238E27FC236}">
                <a16:creationId xmlns:a16="http://schemas.microsoft.com/office/drawing/2014/main" id="{A79E9F13-0B83-9965-7C44-1B300F1CEB6A}"/>
              </a:ext>
            </a:extLst>
          </p:cNvPr>
          <p:cNvCxnSpPr>
            <a:cxnSpLocks/>
          </p:cNvCxnSpPr>
          <p:nvPr/>
        </p:nvCxnSpPr>
        <p:spPr>
          <a:xfrm flipV="1">
            <a:off x="4347822" y="2531137"/>
            <a:ext cx="2719137" cy="11862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19DFFCA-84EF-E254-9D9E-D67EF5E6E91E}"/>
              </a:ext>
            </a:extLst>
          </p:cNvPr>
          <p:cNvSpPr txBox="1"/>
          <p:nvPr/>
        </p:nvSpPr>
        <p:spPr>
          <a:xfrm>
            <a:off x="5204723" y="3296602"/>
            <a:ext cx="1323473" cy="430887"/>
          </a:xfrm>
          <a:prstGeom prst="rect">
            <a:avLst/>
          </a:prstGeom>
          <a:noFill/>
        </p:spPr>
        <p:txBody>
          <a:bodyPr wrap="square" rtlCol="0">
            <a:spAutoFit/>
          </a:bodyPr>
          <a:lstStyle/>
          <a:p>
            <a:r>
              <a:rPr lang="en-US" sz="1100" dirty="0"/>
              <a:t>(Informing angler decisions)</a:t>
            </a:r>
          </a:p>
        </p:txBody>
      </p:sp>
      <p:cxnSp>
        <p:nvCxnSpPr>
          <p:cNvPr id="30" name="Straight Arrow Connector 29">
            <a:extLst>
              <a:ext uri="{FF2B5EF4-FFF2-40B4-BE49-F238E27FC236}">
                <a16:creationId xmlns:a16="http://schemas.microsoft.com/office/drawing/2014/main" id="{D57556F2-1185-9196-3F5A-91998A1ABCC4}"/>
              </a:ext>
            </a:extLst>
          </p:cNvPr>
          <p:cNvCxnSpPr>
            <a:cxnSpLocks/>
          </p:cNvCxnSpPr>
          <p:nvPr/>
        </p:nvCxnSpPr>
        <p:spPr>
          <a:xfrm flipV="1">
            <a:off x="4341275" y="2903148"/>
            <a:ext cx="3310811" cy="266055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32" name="TextBox 31">
            <a:extLst>
              <a:ext uri="{FF2B5EF4-FFF2-40B4-BE49-F238E27FC236}">
                <a16:creationId xmlns:a16="http://schemas.microsoft.com/office/drawing/2014/main" id="{4B4DBBEE-12B6-9083-4AA4-8E4C472AE5E2}"/>
              </a:ext>
            </a:extLst>
          </p:cNvPr>
          <p:cNvSpPr txBox="1"/>
          <p:nvPr/>
        </p:nvSpPr>
        <p:spPr>
          <a:xfrm>
            <a:off x="5555644" y="4634112"/>
            <a:ext cx="1323473" cy="261610"/>
          </a:xfrm>
          <a:prstGeom prst="rect">
            <a:avLst/>
          </a:prstGeom>
          <a:noFill/>
        </p:spPr>
        <p:txBody>
          <a:bodyPr wrap="square" rtlCol="0">
            <a:spAutoFit/>
          </a:bodyPr>
          <a:lstStyle/>
          <a:p>
            <a:r>
              <a:rPr lang="en-US" sz="1100" dirty="0"/>
              <a:t>(Pattern testing)</a:t>
            </a:r>
          </a:p>
        </p:txBody>
      </p:sp>
      <p:sp>
        <p:nvSpPr>
          <p:cNvPr id="34" name="Rectangle 33">
            <a:extLst>
              <a:ext uri="{FF2B5EF4-FFF2-40B4-BE49-F238E27FC236}">
                <a16:creationId xmlns:a16="http://schemas.microsoft.com/office/drawing/2014/main" id="{BEC04BD0-FD5E-7ED2-BA9A-A48EA14C45FE}"/>
              </a:ext>
            </a:extLst>
          </p:cNvPr>
          <p:cNvSpPr/>
          <p:nvPr/>
        </p:nvSpPr>
        <p:spPr>
          <a:xfrm>
            <a:off x="9956132" y="3018978"/>
            <a:ext cx="1515979" cy="10574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Revealed preference paper: choice model</a:t>
            </a:r>
          </a:p>
        </p:txBody>
      </p:sp>
      <p:sp>
        <p:nvSpPr>
          <p:cNvPr id="35" name="Rectangle 34">
            <a:extLst>
              <a:ext uri="{FF2B5EF4-FFF2-40B4-BE49-F238E27FC236}">
                <a16:creationId xmlns:a16="http://schemas.microsoft.com/office/drawing/2014/main" id="{87EEAC6F-5AC1-1707-911B-A2A01840590B}"/>
              </a:ext>
            </a:extLst>
          </p:cNvPr>
          <p:cNvSpPr/>
          <p:nvPr/>
        </p:nvSpPr>
        <p:spPr>
          <a:xfrm>
            <a:off x="9956131" y="1519242"/>
            <a:ext cx="1515979" cy="10574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SES paper 1: model validation and climate scenarios</a:t>
            </a:r>
          </a:p>
        </p:txBody>
      </p:sp>
      <p:cxnSp>
        <p:nvCxnSpPr>
          <p:cNvPr id="37" name="Straight Arrow Connector 36">
            <a:extLst>
              <a:ext uri="{FF2B5EF4-FFF2-40B4-BE49-F238E27FC236}">
                <a16:creationId xmlns:a16="http://schemas.microsoft.com/office/drawing/2014/main" id="{FEF57C56-9A51-767C-49AB-BC11717E09AB}"/>
              </a:ext>
            </a:extLst>
          </p:cNvPr>
          <p:cNvCxnSpPr/>
          <p:nvPr/>
        </p:nvCxnSpPr>
        <p:spPr>
          <a:xfrm flipV="1">
            <a:off x="4385512" y="3795963"/>
            <a:ext cx="5570619" cy="541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C4E04C32-5EB5-4F3B-3982-942511FC1DF4}"/>
              </a:ext>
            </a:extLst>
          </p:cNvPr>
          <p:cNvCxnSpPr/>
          <p:nvPr/>
        </p:nvCxnSpPr>
        <p:spPr>
          <a:xfrm>
            <a:off x="8602580" y="2223888"/>
            <a:ext cx="1353551" cy="11279"/>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41" name="Straight Arrow Connector 40">
            <a:extLst>
              <a:ext uri="{FF2B5EF4-FFF2-40B4-BE49-F238E27FC236}">
                <a16:creationId xmlns:a16="http://schemas.microsoft.com/office/drawing/2014/main" id="{445C0840-2E7C-2B06-ABB7-5BCC2B13D4B3}"/>
              </a:ext>
            </a:extLst>
          </p:cNvPr>
          <p:cNvCxnSpPr>
            <a:stCxn id="17" idx="3"/>
          </p:cNvCxnSpPr>
          <p:nvPr/>
        </p:nvCxnSpPr>
        <p:spPr>
          <a:xfrm flipV="1">
            <a:off x="2425601" y="1389647"/>
            <a:ext cx="277436" cy="116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2" name="Straight Arrow Connector 41">
            <a:extLst>
              <a:ext uri="{FF2B5EF4-FFF2-40B4-BE49-F238E27FC236}">
                <a16:creationId xmlns:a16="http://schemas.microsoft.com/office/drawing/2014/main" id="{563A76E5-88DB-3FE3-4612-F985F0492B8E}"/>
              </a:ext>
            </a:extLst>
          </p:cNvPr>
          <p:cNvCxnSpPr>
            <a:cxnSpLocks/>
            <a:endCxn id="11" idx="1"/>
          </p:cNvCxnSpPr>
          <p:nvPr/>
        </p:nvCxnSpPr>
        <p:spPr>
          <a:xfrm flipV="1">
            <a:off x="2262584" y="3596968"/>
            <a:ext cx="457261" cy="116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44" name="TextBox 43">
            <a:extLst>
              <a:ext uri="{FF2B5EF4-FFF2-40B4-BE49-F238E27FC236}">
                <a16:creationId xmlns:a16="http://schemas.microsoft.com/office/drawing/2014/main" id="{68BD15F9-6068-3C1F-EE6E-BE30D736394B}"/>
              </a:ext>
            </a:extLst>
          </p:cNvPr>
          <p:cNvSpPr txBox="1"/>
          <p:nvPr/>
        </p:nvSpPr>
        <p:spPr>
          <a:xfrm>
            <a:off x="7732533" y="4963538"/>
            <a:ext cx="2815390" cy="1200329"/>
          </a:xfrm>
          <a:prstGeom prst="rect">
            <a:avLst/>
          </a:prstGeom>
          <a:noFill/>
        </p:spPr>
        <p:txBody>
          <a:bodyPr wrap="square" rtlCol="0">
            <a:spAutoFit/>
          </a:bodyPr>
          <a:lstStyle/>
          <a:p>
            <a:r>
              <a:rPr lang="en-US" dirty="0">
                <a:solidFill>
                  <a:schemeClr val="accent5"/>
                </a:solidFill>
              </a:rPr>
              <a:t>Data</a:t>
            </a:r>
          </a:p>
          <a:p>
            <a:r>
              <a:rPr lang="en-US" dirty="0">
                <a:solidFill>
                  <a:schemeClr val="accent1"/>
                </a:solidFill>
              </a:rPr>
              <a:t>Analysis</a:t>
            </a:r>
          </a:p>
          <a:p>
            <a:r>
              <a:rPr lang="en-US" dirty="0">
                <a:solidFill>
                  <a:schemeClr val="accent3"/>
                </a:solidFill>
              </a:rPr>
              <a:t>Simulation</a:t>
            </a:r>
          </a:p>
          <a:p>
            <a:r>
              <a:rPr lang="en-US" dirty="0">
                <a:solidFill>
                  <a:schemeClr val="accent2"/>
                </a:solidFill>
              </a:rPr>
              <a:t>Product</a:t>
            </a:r>
          </a:p>
        </p:txBody>
      </p:sp>
      <p:sp>
        <p:nvSpPr>
          <p:cNvPr id="45" name="TextBox 44">
            <a:extLst>
              <a:ext uri="{FF2B5EF4-FFF2-40B4-BE49-F238E27FC236}">
                <a16:creationId xmlns:a16="http://schemas.microsoft.com/office/drawing/2014/main" id="{376CCB27-6A55-AA94-E5DA-66843C3795A9}"/>
              </a:ext>
            </a:extLst>
          </p:cNvPr>
          <p:cNvSpPr txBox="1"/>
          <p:nvPr/>
        </p:nvSpPr>
        <p:spPr>
          <a:xfrm>
            <a:off x="585656" y="4072081"/>
            <a:ext cx="1323473" cy="600164"/>
          </a:xfrm>
          <a:prstGeom prst="rect">
            <a:avLst/>
          </a:prstGeom>
          <a:noFill/>
        </p:spPr>
        <p:txBody>
          <a:bodyPr wrap="square" rtlCol="0">
            <a:spAutoFit/>
          </a:bodyPr>
          <a:lstStyle/>
          <a:p>
            <a:r>
              <a:rPr lang="en-US" sz="1100" dirty="0"/>
              <a:t>(Have 1 year of angler diaries; more exist)</a:t>
            </a:r>
          </a:p>
        </p:txBody>
      </p:sp>
      <p:sp>
        <p:nvSpPr>
          <p:cNvPr id="2" name="Rectangle 1">
            <a:extLst>
              <a:ext uri="{FF2B5EF4-FFF2-40B4-BE49-F238E27FC236}">
                <a16:creationId xmlns:a16="http://schemas.microsoft.com/office/drawing/2014/main" id="{1C287DED-60B7-52DE-2785-77DF769898DD}"/>
              </a:ext>
            </a:extLst>
          </p:cNvPr>
          <p:cNvSpPr/>
          <p:nvPr/>
        </p:nvSpPr>
        <p:spPr>
          <a:xfrm>
            <a:off x="9956131" y="235419"/>
            <a:ext cx="1515979" cy="10574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Catchability paper</a:t>
            </a:r>
          </a:p>
        </p:txBody>
      </p:sp>
      <p:cxnSp>
        <p:nvCxnSpPr>
          <p:cNvPr id="3" name="Straight Arrow Connector 2">
            <a:extLst>
              <a:ext uri="{FF2B5EF4-FFF2-40B4-BE49-F238E27FC236}">
                <a16:creationId xmlns:a16="http://schemas.microsoft.com/office/drawing/2014/main" id="{63208E0C-B79D-4B63-C4A0-4095750DB9D1}"/>
              </a:ext>
            </a:extLst>
          </p:cNvPr>
          <p:cNvCxnSpPr/>
          <p:nvPr/>
        </p:nvCxnSpPr>
        <p:spPr>
          <a:xfrm flipV="1">
            <a:off x="4360385" y="1013382"/>
            <a:ext cx="5570619" cy="541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999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2" grpId="0"/>
      <p:bldP spid="34" grpId="0" animBg="1"/>
      <p:bldP spid="35"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64A17F6-676F-F0CC-8DBD-C8825F600398}"/>
              </a:ext>
            </a:extLst>
          </p:cNvPr>
          <p:cNvSpPr/>
          <p:nvPr/>
        </p:nvSpPr>
        <p:spPr>
          <a:xfrm>
            <a:off x="9014789" y="4175811"/>
            <a:ext cx="2000250" cy="145256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6DB372E-A5B6-F112-5016-561CF8B4EF5B}"/>
              </a:ext>
            </a:extLst>
          </p:cNvPr>
          <p:cNvSpPr/>
          <p:nvPr/>
        </p:nvSpPr>
        <p:spPr>
          <a:xfrm>
            <a:off x="9014789" y="1421211"/>
            <a:ext cx="2000250" cy="264217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D40693-DE3F-38B4-CDDC-D0D67131515C}"/>
              </a:ext>
            </a:extLst>
          </p:cNvPr>
          <p:cNvSpPr/>
          <p:nvPr/>
        </p:nvSpPr>
        <p:spPr>
          <a:xfrm>
            <a:off x="3454111" y="1666611"/>
            <a:ext cx="2828925" cy="366712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1BCF9AB-6B1A-9963-2568-A74FDB97A197}"/>
              </a:ext>
            </a:extLst>
          </p:cNvPr>
          <p:cNvSpPr/>
          <p:nvPr/>
        </p:nvSpPr>
        <p:spPr>
          <a:xfrm>
            <a:off x="444211" y="2964646"/>
            <a:ext cx="2041187" cy="1254868"/>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Climate effects on lake temperatures</a:t>
            </a:r>
          </a:p>
        </p:txBody>
      </p:sp>
      <p:sp>
        <p:nvSpPr>
          <p:cNvPr id="5" name="Rectangle 4">
            <a:extLst>
              <a:ext uri="{FF2B5EF4-FFF2-40B4-BE49-F238E27FC236}">
                <a16:creationId xmlns:a16="http://schemas.microsoft.com/office/drawing/2014/main" id="{12771A8A-8646-7846-24CB-BF545A2ED283}"/>
              </a:ext>
            </a:extLst>
          </p:cNvPr>
          <p:cNvSpPr/>
          <p:nvPr/>
        </p:nvSpPr>
        <p:spPr>
          <a:xfrm>
            <a:off x="3784648" y="2165762"/>
            <a:ext cx="2041187" cy="1254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Walleye population model</a:t>
            </a:r>
          </a:p>
        </p:txBody>
      </p:sp>
      <p:sp>
        <p:nvSpPr>
          <p:cNvPr id="6" name="Rectangle 5">
            <a:extLst>
              <a:ext uri="{FF2B5EF4-FFF2-40B4-BE49-F238E27FC236}">
                <a16:creationId xmlns:a16="http://schemas.microsoft.com/office/drawing/2014/main" id="{CC6BEDD2-9893-661E-4DC1-984086EB00D6}"/>
              </a:ext>
            </a:extLst>
          </p:cNvPr>
          <p:cNvSpPr/>
          <p:nvPr/>
        </p:nvSpPr>
        <p:spPr>
          <a:xfrm>
            <a:off x="3784648" y="3699287"/>
            <a:ext cx="2041187" cy="1254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Bluegill population model</a:t>
            </a:r>
          </a:p>
        </p:txBody>
      </p:sp>
      <p:sp>
        <p:nvSpPr>
          <p:cNvPr id="8" name="TextBox 7">
            <a:extLst>
              <a:ext uri="{FF2B5EF4-FFF2-40B4-BE49-F238E27FC236}">
                <a16:creationId xmlns:a16="http://schemas.microsoft.com/office/drawing/2014/main" id="{1B03C0FF-9153-5A06-3963-949F740FDB9E}"/>
              </a:ext>
            </a:extLst>
          </p:cNvPr>
          <p:cNvSpPr txBox="1"/>
          <p:nvPr/>
        </p:nvSpPr>
        <p:spPr>
          <a:xfrm>
            <a:off x="3768436" y="1714236"/>
            <a:ext cx="2200274" cy="381000"/>
          </a:xfrm>
          <a:prstGeom prst="rect">
            <a:avLst/>
          </a:prstGeom>
          <a:noFill/>
        </p:spPr>
        <p:txBody>
          <a:bodyPr wrap="square" rtlCol="0">
            <a:spAutoFit/>
          </a:bodyPr>
          <a:lstStyle/>
          <a:p>
            <a:r>
              <a:rPr lang="en-US" dirty="0"/>
              <a:t>For each of N lakes:</a:t>
            </a:r>
          </a:p>
        </p:txBody>
      </p:sp>
      <p:cxnSp>
        <p:nvCxnSpPr>
          <p:cNvPr id="10" name="Straight Arrow Connector 9">
            <a:extLst>
              <a:ext uri="{FF2B5EF4-FFF2-40B4-BE49-F238E27FC236}">
                <a16:creationId xmlns:a16="http://schemas.microsoft.com/office/drawing/2014/main" id="{B85417DB-C50F-9EFB-D4F9-67F624C4A35E}"/>
              </a:ext>
            </a:extLst>
          </p:cNvPr>
          <p:cNvCxnSpPr/>
          <p:nvPr/>
        </p:nvCxnSpPr>
        <p:spPr>
          <a:xfrm flipV="1">
            <a:off x="2485398" y="2793196"/>
            <a:ext cx="1299250" cy="4069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FDDD2C9A-8644-7DD2-80A3-FF1CC1BCEE38}"/>
              </a:ext>
            </a:extLst>
          </p:cNvPr>
          <p:cNvCxnSpPr/>
          <p:nvPr/>
        </p:nvCxnSpPr>
        <p:spPr>
          <a:xfrm>
            <a:off x="2485398" y="3828786"/>
            <a:ext cx="1283038" cy="476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C189E65-20D2-9B37-3B74-563C496F3263}"/>
              </a:ext>
            </a:extLst>
          </p:cNvPr>
          <p:cNvSpPr txBox="1"/>
          <p:nvPr/>
        </p:nvSpPr>
        <p:spPr>
          <a:xfrm>
            <a:off x="2302599" y="2266686"/>
            <a:ext cx="1482049" cy="584775"/>
          </a:xfrm>
          <a:prstGeom prst="rect">
            <a:avLst/>
          </a:prstGeom>
          <a:noFill/>
        </p:spPr>
        <p:txBody>
          <a:bodyPr wrap="square" rtlCol="0">
            <a:spAutoFit/>
          </a:bodyPr>
          <a:lstStyle/>
          <a:p>
            <a:r>
              <a:rPr lang="en-US" sz="1600" dirty="0"/>
              <a:t>Influence M and growth</a:t>
            </a:r>
          </a:p>
        </p:txBody>
      </p:sp>
      <p:sp>
        <p:nvSpPr>
          <p:cNvPr id="15" name="Rectangle 14">
            <a:extLst>
              <a:ext uri="{FF2B5EF4-FFF2-40B4-BE49-F238E27FC236}">
                <a16:creationId xmlns:a16="http://schemas.microsoft.com/office/drawing/2014/main" id="{CF483B69-17BE-61FB-98A9-53DD9A47C6D2}"/>
              </a:ext>
            </a:extLst>
          </p:cNvPr>
          <p:cNvSpPr/>
          <p:nvPr/>
        </p:nvSpPr>
        <p:spPr>
          <a:xfrm>
            <a:off x="9216741" y="1780274"/>
            <a:ext cx="1596349" cy="9620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Angler choice (Fishing, not fishing)</a:t>
            </a:r>
          </a:p>
        </p:txBody>
      </p:sp>
      <p:sp>
        <p:nvSpPr>
          <p:cNvPr id="16" name="Rectangle 15">
            <a:extLst>
              <a:ext uri="{FF2B5EF4-FFF2-40B4-BE49-F238E27FC236}">
                <a16:creationId xmlns:a16="http://schemas.microsoft.com/office/drawing/2014/main" id="{45B16C82-06DF-A303-0CD2-9E9BD7813D32}"/>
              </a:ext>
            </a:extLst>
          </p:cNvPr>
          <p:cNvSpPr/>
          <p:nvPr/>
        </p:nvSpPr>
        <p:spPr>
          <a:xfrm>
            <a:off x="6961239" y="2139387"/>
            <a:ext cx="1596349" cy="9620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Target selection, catch and harvest</a:t>
            </a:r>
          </a:p>
        </p:txBody>
      </p:sp>
      <p:sp>
        <p:nvSpPr>
          <p:cNvPr id="17" name="Rectangle 16">
            <a:extLst>
              <a:ext uri="{FF2B5EF4-FFF2-40B4-BE49-F238E27FC236}">
                <a16:creationId xmlns:a16="http://schemas.microsoft.com/office/drawing/2014/main" id="{FEFB3331-6892-C398-C43F-57BA793ACB94}"/>
              </a:ext>
            </a:extLst>
          </p:cNvPr>
          <p:cNvSpPr/>
          <p:nvPr/>
        </p:nvSpPr>
        <p:spPr>
          <a:xfrm>
            <a:off x="9216740" y="2965124"/>
            <a:ext cx="1596349" cy="9620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Angler choice (Bluegill, walleye, something else)</a:t>
            </a:r>
          </a:p>
        </p:txBody>
      </p:sp>
      <p:sp>
        <p:nvSpPr>
          <p:cNvPr id="18" name="Rectangle 17">
            <a:extLst>
              <a:ext uri="{FF2B5EF4-FFF2-40B4-BE49-F238E27FC236}">
                <a16:creationId xmlns:a16="http://schemas.microsoft.com/office/drawing/2014/main" id="{D2421CB5-3D9E-9FB9-D24D-E63354A392A1}"/>
              </a:ext>
            </a:extLst>
          </p:cNvPr>
          <p:cNvSpPr/>
          <p:nvPr/>
        </p:nvSpPr>
        <p:spPr>
          <a:xfrm>
            <a:off x="9216739" y="4467744"/>
            <a:ext cx="1596349" cy="9620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Angler choice (Lake)</a:t>
            </a:r>
          </a:p>
        </p:txBody>
      </p:sp>
      <p:sp>
        <p:nvSpPr>
          <p:cNvPr id="20" name="TextBox 19">
            <a:extLst>
              <a:ext uri="{FF2B5EF4-FFF2-40B4-BE49-F238E27FC236}">
                <a16:creationId xmlns:a16="http://schemas.microsoft.com/office/drawing/2014/main" id="{0F90F5AC-7D89-DBC4-BEB9-03EA096B0B3E}"/>
              </a:ext>
            </a:extLst>
          </p:cNvPr>
          <p:cNvSpPr txBox="1"/>
          <p:nvPr/>
        </p:nvSpPr>
        <p:spPr>
          <a:xfrm>
            <a:off x="8945733" y="1417312"/>
            <a:ext cx="2200274" cy="338554"/>
          </a:xfrm>
          <a:prstGeom prst="rect">
            <a:avLst/>
          </a:prstGeom>
          <a:noFill/>
        </p:spPr>
        <p:txBody>
          <a:bodyPr wrap="square" rtlCol="0">
            <a:spAutoFit/>
          </a:bodyPr>
          <a:lstStyle/>
          <a:p>
            <a:r>
              <a:rPr lang="en-US" sz="1600" dirty="0"/>
              <a:t>From diary analysis:</a:t>
            </a:r>
          </a:p>
        </p:txBody>
      </p:sp>
      <p:sp>
        <p:nvSpPr>
          <p:cNvPr id="22" name="TextBox 21">
            <a:extLst>
              <a:ext uri="{FF2B5EF4-FFF2-40B4-BE49-F238E27FC236}">
                <a16:creationId xmlns:a16="http://schemas.microsoft.com/office/drawing/2014/main" id="{FBFF8EA7-08BA-1C1D-1275-1ED1AE7F77B2}"/>
              </a:ext>
            </a:extLst>
          </p:cNvPr>
          <p:cNvSpPr txBox="1"/>
          <p:nvPr/>
        </p:nvSpPr>
        <p:spPr>
          <a:xfrm>
            <a:off x="9035258" y="4148656"/>
            <a:ext cx="2200274" cy="307777"/>
          </a:xfrm>
          <a:prstGeom prst="rect">
            <a:avLst/>
          </a:prstGeom>
          <a:noFill/>
        </p:spPr>
        <p:txBody>
          <a:bodyPr wrap="square" rtlCol="0">
            <a:spAutoFit/>
          </a:bodyPr>
          <a:lstStyle/>
          <a:p>
            <a:r>
              <a:rPr lang="en-US" sz="1400" dirty="0"/>
              <a:t>From diary and DCE:</a:t>
            </a:r>
          </a:p>
        </p:txBody>
      </p:sp>
      <p:cxnSp>
        <p:nvCxnSpPr>
          <p:cNvPr id="24" name="Straight Arrow Connector 23">
            <a:extLst>
              <a:ext uri="{FF2B5EF4-FFF2-40B4-BE49-F238E27FC236}">
                <a16:creationId xmlns:a16="http://schemas.microsoft.com/office/drawing/2014/main" id="{BA138DA3-F332-C242-C58C-AC0FF0A1F7C5}"/>
              </a:ext>
            </a:extLst>
          </p:cNvPr>
          <p:cNvCxnSpPr>
            <a:cxnSpLocks/>
          </p:cNvCxnSpPr>
          <p:nvPr/>
        </p:nvCxnSpPr>
        <p:spPr>
          <a:xfrm>
            <a:off x="10911682" y="2261286"/>
            <a:ext cx="0" cy="26358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451F03E-2F60-1452-6690-B8FD4331A533}"/>
              </a:ext>
            </a:extLst>
          </p:cNvPr>
          <p:cNvCxnSpPr>
            <a:stCxn id="21" idx="1"/>
            <a:endCxn id="16" idx="2"/>
          </p:cNvCxnSpPr>
          <p:nvPr/>
        </p:nvCxnSpPr>
        <p:spPr>
          <a:xfrm flipH="1" flipV="1">
            <a:off x="7759414" y="3101412"/>
            <a:ext cx="1255375" cy="180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3FCB15B1-CC37-BD9A-E87D-18AD32AD59CA}"/>
              </a:ext>
            </a:extLst>
          </p:cNvPr>
          <p:cNvCxnSpPr>
            <a:cxnSpLocks/>
            <a:stCxn id="16" idx="1"/>
          </p:cNvCxnSpPr>
          <p:nvPr/>
        </p:nvCxnSpPr>
        <p:spPr>
          <a:xfrm flipH="1">
            <a:off x="6163747" y="2620400"/>
            <a:ext cx="797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9478CBA2-00D5-9C84-558E-51D831875D87}"/>
              </a:ext>
            </a:extLst>
          </p:cNvPr>
          <p:cNvSpPr/>
          <p:nvPr/>
        </p:nvSpPr>
        <p:spPr>
          <a:xfrm>
            <a:off x="6924100" y="4426298"/>
            <a:ext cx="1596349" cy="102343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Angler memory, info sharing, and expectations</a:t>
            </a:r>
          </a:p>
        </p:txBody>
      </p:sp>
      <p:cxnSp>
        <p:nvCxnSpPr>
          <p:cNvPr id="41" name="Straight Arrow Connector 40">
            <a:extLst>
              <a:ext uri="{FF2B5EF4-FFF2-40B4-BE49-F238E27FC236}">
                <a16:creationId xmlns:a16="http://schemas.microsoft.com/office/drawing/2014/main" id="{629F97DB-AC68-5210-F92A-75489D84F3D4}"/>
              </a:ext>
            </a:extLst>
          </p:cNvPr>
          <p:cNvCxnSpPr/>
          <p:nvPr/>
        </p:nvCxnSpPr>
        <p:spPr>
          <a:xfrm>
            <a:off x="7671904" y="3168036"/>
            <a:ext cx="0" cy="1243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339D70B8-7DE6-40BD-A257-49E668446010}"/>
              </a:ext>
            </a:extLst>
          </p:cNvPr>
          <p:cNvCxnSpPr>
            <a:cxnSpLocks/>
          </p:cNvCxnSpPr>
          <p:nvPr/>
        </p:nvCxnSpPr>
        <p:spPr>
          <a:xfrm>
            <a:off x="8520449" y="5182522"/>
            <a:ext cx="5148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3AC830A8-0367-3BAE-A24B-B1F5EACCFE8B}"/>
              </a:ext>
            </a:extLst>
          </p:cNvPr>
          <p:cNvCxnSpPr/>
          <p:nvPr/>
        </p:nvCxnSpPr>
        <p:spPr>
          <a:xfrm>
            <a:off x="6200886" y="2938271"/>
            <a:ext cx="7603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1" name="Group 10">
            <a:extLst>
              <a:ext uri="{FF2B5EF4-FFF2-40B4-BE49-F238E27FC236}">
                <a16:creationId xmlns:a16="http://schemas.microsoft.com/office/drawing/2014/main" id="{BAD87F0D-CB25-8D6B-334B-942B35775C16}"/>
              </a:ext>
            </a:extLst>
          </p:cNvPr>
          <p:cNvGrpSpPr/>
          <p:nvPr/>
        </p:nvGrpSpPr>
        <p:grpSpPr>
          <a:xfrm>
            <a:off x="3454111" y="5783189"/>
            <a:ext cx="1775597" cy="710818"/>
            <a:chOff x="5351075" y="6034616"/>
            <a:chExt cx="1775597" cy="710818"/>
          </a:xfrm>
        </p:grpSpPr>
        <p:sp>
          <p:nvSpPr>
            <p:cNvPr id="3" name="Rectangle 2">
              <a:extLst>
                <a:ext uri="{FF2B5EF4-FFF2-40B4-BE49-F238E27FC236}">
                  <a16:creationId xmlns:a16="http://schemas.microsoft.com/office/drawing/2014/main" id="{C514E7AA-F5F2-2909-3993-A82B2C4AB51D}"/>
                </a:ext>
              </a:extLst>
            </p:cNvPr>
            <p:cNvSpPr/>
            <p:nvPr/>
          </p:nvSpPr>
          <p:spPr>
            <a:xfrm>
              <a:off x="5351075" y="6034616"/>
              <a:ext cx="1775597" cy="710818"/>
            </a:xfrm>
            <a:prstGeom prst="rect">
              <a:avLst/>
            </a:prstGeom>
            <a:noFill/>
            <a:ln w="19050">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72109DD-88F4-F0B9-CB64-CF4D5933C369}"/>
                </a:ext>
              </a:extLst>
            </p:cNvPr>
            <p:cNvSpPr txBox="1"/>
            <p:nvPr/>
          </p:nvSpPr>
          <p:spPr>
            <a:xfrm>
              <a:off x="5596467" y="6146800"/>
              <a:ext cx="1413933" cy="584775"/>
            </a:xfrm>
            <a:prstGeom prst="rect">
              <a:avLst/>
            </a:prstGeom>
            <a:noFill/>
          </p:spPr>
          <p:txBody>
            <a:bodyPr wrap="square" rtlCol="0">
              <a:spAutoFit/>
            </a:bodyPr>
            <a:lstStyle/>
            <a:p>
              <a:r>
                <a:rPr lang="en-US" sz="1600" dirty="0">
                  <a:solidFill>
                    <a:schemeClr val="bg2">
                      <a:lumMod val="75000"/>
                    </a:schemeClr>
                  </a:solidFill>
                </a:rPr>
                <a:t>Observation model</a:t>
              </a:r>
            </a:p>
          </p:txBody>
        </p:sp>
      </p:grpSp>
      <p:grpSp>
        <p:nvGrpSpPr>
          <p:cNvPr id="14" name="Group 13">
            <a:extLst>
              <a:ext uri="{FF2B5EF4-FFF2-40B4-BE49-F238E27FC236}">
                <a16:creationId xmlns:a16="http://schemas.microsoft.com/office/drawing/2014/main" id="{8AB59F3B-B1DD-86B3-7EAD-36FEB12E2DC9}"/>
              </a:ext>
            </a:extLst>
          </p:cNvPr>
          <p:cNvGrpSpPr/>
          <p:nvPr/>
        </p:nvGrpSpPr>
        <p:grpSpPr>
          <a:xfrm>
            <a:off x="5656124" y="5773664"/>
            <a:ext cx="1775597" cy="710818"/>
            <a:chOff x="5351075" y="6034616"/>
            <a:chExt cx="1775597" cy="710818"/>
          </a:xfrm>
        </p:grpSpPr>
        <p:sp>
          <p:nvSpPr>
            <p:cNvPr id="23" name="Rectangle 22">
              <a:extLst>
                <a:ext uri="{FF2B5EF4-FFF2-40B4-BE49-F238E27FC236}">
                  <a16:creationId xmlns:a16="http://schemas.microsoft.com/office/drawing/2014/main" id="{AFE1C734-F5B8-04A9-0147-9211B0C13826}"/>
                </a:ext>
              </a:extLst>
            </p:cNvPr>
            <p:cNvSpPr/>
            <p:nvPr/>
          </p:nvSpPr>
          <p:spPr>
            <a:xfrm>
              <a:off x="5351075" y="6034616"/>
              <a:ext cx="1775597" cy="710818"/>
            </a:xfrm>
            <a:prstGeom prst="rect">
              <a:avLst/>
            </a:prstGeom>
            <a:noFill/>
            <a:ln w="19050">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7708CE2-3863-FFB9-92C9-3A910ABBC521}"/>
                </a:ext>
              </a:extLst>
            </p:cNvPr>
            <p:cNvSpPr txBox="1"/>
            <p:nvPr/>
          </p:nvSpPr>
          <p:spPr>
            <a:xfrm>
              <a:off x="5596467" y="6146800"/>
              <a:ext cx="1413933" cy="584775"/>
            </a:xfrm>
            <a:prstGeom prst="rect">
              <a:avLst/>
            </a:prstGeom>
            <a:noFill/>
          </p:spPr>
          <p:txBody>
            <a:bodyPr wrap="square" rtlCol="0">
              <a:spAutoFit/>
            </a:bodyPr>
            <a:lstStyle/>
            <a:p>
              <a:r>
                <a:rPr lang="en-US" sz="1600" dirty="0">
                  <a:solidFill>
                    <a:schemeClr val="bg2">
                      <a:lumMod val="75000"/>
                    </a:schemeClr>
                  </a:solidFill>
                </a:rPr>
                <a:t>Manager decisions</a:t>
              </a:r>
            </a:p>
          </p:txBody>
        </p:sp>
      </p:grpSp>
      <p:cxnSp>
        <p:nvCxnSpPr>
          <p:cNvPr id="27" name="Straight Arrow Connector 26">
            <a:extLst>
              <a:ext uri="{FF2B5EF4-FFF2-40B4-BE49-F238E27FC236}">
                <a16:creationId xmlns:a16="http://schemas.microsoft.com/office/drawing/2014/main" id="{AE44715A-B13B-07E0-982B-7F9F54F1B000}"/>
              </a:ext>
            </a:extLst>
          </p:cNvPr>
          <p:cNvCxnSpPr>
            <a:cxnSpLocks/>
          </p:cNvCxnSpPr>
          <p:nvPr/>
        </p:nvCxnSpPr>
        <p:spPr>
          <a:xfrm>
            <a:off x="3988569" y="5152062"/>
            <a:ext cx="0" cy="631127"/>
          </a:xfrm>
          <a:prstGeom prst="straightConnector1">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6470C03-5E06-CDCD-96D3-F2A7F738436C}"/>
              </a:ext>
            </a:extLst>
          </p:cNvPr>
          <p:cNvCxnSpPr>
            <a:cxnSpLocks/>
          </p:cNvCxnSpPr>
          <p:nvPr/>
        </p:nvCxnSpPr>
        <p:spPr>
          <a:xfrm flipV="1">
            <a:off x="5968710" y="5152062"/>
            <a:ext cx="0" cy="566546"/>
          </a:xfrm>
          <a:prstGeom prst="straightConnector1">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7362ADF-0EA0-0AA0-E653-BB61A3C50F5A}"/>
              </a:ext>
            </a:extLst>
          </p:cNvPr>
          <p:cNvCxnSpPr>
            <a:cxnSpLocks/>
          </p:cNvCxnSpPr>
          <p:nvPr/>
        </p:nvCxnSpPr>
        <p:spPr>
          <a:xfrm flipV="1">
            <a:off x="6688377" y="3194411"/>
            <a:ext cx="235723" cy="2564966"/>
          </a:xfrm>
          <a:prstGeom prst="straightConnector1">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8F6402A-DC75-2EF3-4C20-516E5EDF2E8B}"/>
              </a:ext>
            </a:extLst>
          </p:cNvPr>
          <p:cNvCxnSpPr>
            <a:cxnSpLocks/>
            <a:stCxn id="23" idx="3"/>
          </p:cNvCxnSpPr>
          <p:nvPr/>
        </p:nvCxnSpPr>
        <p:spPr>
          <a:xfrm flipV="1">
            <a:off x="7431721" y="5545403"/>
            <a:ext cx="231383" cy="583670"/>
          </a:xfrm>
          <a:prstGeom prst="straightConnector1">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33EBC66-54F8-7F47-286C-8FA7D7CD3A77}"/>
              </a:ext>
            </a:extLst>
          </p:cNvPr>
          <p:cNvSpPr txBox="1"/>
          <p:nvPr/>
        </p:nvSpPr>
        <p:spPr>
          <a:xfrm>
            <a:off x="969679" y="5705806"/>
            <a:ext cx="2308225" cy="923330"/>
          </a:xfrm>
          <a:prstGeom prst="rect">
            <a:avLst/>
          </a:prstGeom>
          <a:noFill/>
        </p:spPr>
        <p:txBody>
          <a:bodyPr wrap="square" rtlCol="0">
            <a:spAutoFit/>
          </a:bodyPr>
          <a:lstStyle/>
          <a:p>
            <a:r>
              <a:rPr lang="en-US" dirty="0">
                <a:solidFill>
                  <a:schemeClr val="bg2">
                    <a:lumMod val="75000"/>
                  </a:schemeClr>
                </a:solidFill>
              </a:rPr>
              <a:t>Future opportunities:</a:t>
            </a:r>
          </a:p>
          <a:p>
            <a:r>
              <a:rPr lang="en-US" dirty="0">
                <a:solidFill>
                  <a:schemeClr val="bg2">
                    <a:lumMod val="75000"/>
                  </a:schemeClr>
                </a:solidFill>
              </a:rPr>
              <a:t>Add LMB populations and:</a:t>
            </a:r>
          </a:p>
        </p:txBody>
      </p:sp>
      <p:sp>
        <p:nvSpPr>
          <p:cNvPr id="26" name="Rectangle 25">
            <a:extLst>
              <a:ext uri="{FF2B5EF4-FFF2-40B4-BE49-F238E27FC236}">
                <a16:creationId xmlns:a16="http://schemas.microsoft.com/office/drawing/2014/main" id="{1B693511-695D-5347-9065-9A45C356794E}"/>
              </a:ext>
            </a:extLst>
          </p:cNvPr>
          <p:cNvSpPr/>
          <p:nvPr/>
        </p:nvSpPr>
        <p:spPr>
          <a:xfrm>
            <a:off x="7836762" y="5728564"/>
            <a:ext cx="1236870" cy="76731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Distance from angler</a:t>
            </a:r>
          </a:p>
        </p:txBody>
      </p:sp>
      <p:cxnSp>
        <p:nvCxnSpPr>
          <p:cNvPr id="29" name="Straight Arrow Connector 28">
            <a:extLst>
              <a:ext uri="{FF2B5EF4-FFF2-40B4-BE49-F238E27FC236}">
                <a16:creationId xmlns:a16="http://schemas.microsoft.com/office/drawing/2014/main" id="{3C7D62BE-6C91-70FC-20BD-7DCEAC701AFC}"/>
              </a:ext>
            </a:extLst>
          </p:cNvPr>
          <p:cNvCxnSpPr>
            <a:cxnSpLocks/>
          </p:cNvCxnSpPr>
          <p:nvPr/>
        </p:nvCxnSpPr>
        <p:spPr>
          <a:xfrm flipV="1">
            <a:off x="9073632" y="5449730"/>
            <a:ext cx="377670" cy="6528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itle 36">
            <a:extLst>
              <a:ext uri="{FF2B5EF4-FFF2-40B4-BE49-F238E27FC236}">
                <a16:creationId xmlns:a16="http://schemas.microsoft.com/office/drawing/2014/main" id="{06AAAA1F-3D33-1DD7-12EA-8E4C1D985CEF}"/>
              </a:ext>
            </a:extLst>
          </p:cNvPr>
          <p:cNvSpPr>
            <a:spLocks noGrp="1"/>
          </p:cNvSpPr>
          <p:nvPr>
            <p:ph type="title"/>
          </p:nvPr>
        </p:nvSpPr>
        <p:spPr/>
        <p:txBody>
          <a:bodyPr/>
          <a:lstStyle/>
          <a:p>
            <a:r>
              <a:rPr lang="en-US" dirty="0"/>
              <a:t>SES model: possible endpoint</a:t>
            </a:r>
          </a:p>
        </p:txBody>
      </p:sp>
    </p:spTree>
    <p:extLst>
      <p:ext uri="{BB962C8B-B14F-4D97-AF65-F5344CB8AC3E}">
        <p14:creationId xmlns:p14="http://schemas.microsoft.com/office/powerpoint/2010/main" val="247521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9" grpId="0" animBg="1"/>
      <p:bldP spid="15" grpId="0" animBg="1"/>
      <p:bldP spid="16" grpId="0" animBg="1"/>
      <p:bldP spid="17" grpId="0" animBg="1"/>
      <p:bldP spid="18" grpId="0" animBg="1"/>
      <p:bldP spid="20" grpId="0"/>
      <p:bldP spid="22" grpId="0"/>
      <p:bldP spid="39" grpId="0" animBg="1"/>
      <p:bldP spid="42" grpId="0"/>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2EDC6-C4C0-6BC7-DCB3-2336D5E9D33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9E13840-F36A-FBC8-85A9-AC4E559A9EC9}"/>
              </a:ext>
            </a:extLst>
          </p:cNvPr>
          <p:cNvSpPr/>
          <p:nvPr/>
        </p:nvSpPr>
        <p:spPr>
          <a:xfrm>
            <a:off x="3454111" y="1666611"/>
            <a:ext cx="2828925" cy="209893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B27F9A1-E65E-B400-5687-F629DEAFFDA2}"/>
              </a:ext>
            </a:extLst>
          </p:cNvPr>
          <p:cNvSpPr/>
          <p:nvPr/>
        </p:nvSpPr>
        <p:spPr>
          <a:xfrm>
            <a:off x="3784648" y="2165762"/>
            <a:ext cx="2041187" cy="1254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Walleye population model</a:t>
            </a:r>
          </a:p>
        </p:txBody>
      </p:sp>
      <p:sp>
        <p:nvSpPr>
          <p:cNvPr id="8" name="TextBox 7">
            <a:extLst>
              <a:ext uri="{FF2B5EF4-FFF2-40B4-BE49-F238E27FC236}">
                <a16:creationId xmlns:a16="http://schemas.microsoft.com/office/drawing/2014/main" id="{116B831B-7C1A-A5FB-FB41-8CE9D9C52C0A}"/>
              </a:ext>
            </a:extLst>
          </p:cNvPr>
          <p:cNvSpPr txBox="1"/>
          <p:nvPr/>
        </p:nvSpPr>
        <p:spPr>
          <a:xfrm>
            <a:off x="3768436" y="1714236"/>
            <a:ext cx="2200274" cy="381000"/>
          </a:xfrm>
          <a:prstGeom prst="rect">
            <a:avLst/>
          </a:prstGeom>
          <a:noFill/>
        </p:spPr>
        <p:txBody>
          <a:bodyPr wrap="square" rtlCol="0">
            <a:spAutoFit/>
          </a:bodyPr>
          <a:lstStyle/>
          <a:p>
            <a:r>
              <a:rPr lang="en-US" dirty="0"/>
              <a:t>For each of N lakes:</a:t>
            </a:r>
          </a:p>
        </p:txBody>
      </p:sp>
      <p:sp>
        <p:nvSpPr>
          <p:cNvPr id="16" name="Rectangle 15">
            <a:extLst>
              <a:ext uri="{FF2B5EF4-FFF2-40B4-BE49-F238E27FC236}">
                <a16:creationId xmlns:a16="http://schemas.microsoft.com/office/drawing/2014/main" id="{A5A58921-3F38-84C2-D9A3-A1719AE8E6C0}"/>
              </a:ext>
            </a:extLst>
          </p:cNvPr>
          <p:cNvSpPr/>
          <p:nvPr/>
        </p:nvSpPr>
        <p:spPr>
          <a:xfrm>
            <a:off x="6961239" y="2139387"/>
            <a:ext cx="1596349" cy="9620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Harvest walleye</a:t>
            </a:r>
          </a:p>
        </p:txBody>
      </p:sp>
      <p:sp>
        <p:nvSpPr>
          <p:cNvPr id="18" name="Rectangle 17">
            <a:extLst>
              <a:ext uri="{FF2B5EF4-FFF2-40B4-BE49-F238E27FC236}">
                <a16:creationId xmlns:a16="http://schemas.microsoft.com/office/drawing/2014/main" id="{FDF684B7-5268-D537-08BF-DBB06CD96702}"/>
              </a:ext>
            </a:extLst>
          </p:cNvPr>
          <p:cNvSpPr/>
          <p:nvPr/>
        </p:nvSpPr>
        <p:spPr>
          <a:xfrm>
            <a:off x="9216739" y="4467744"/>
            <a:ext cx="1596349" cy="9620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Angler choice (Lake)</a:t>
            </a:r>
          </a:p>
        </p:txBody>
      </p:sp>
      <p:cxnSp>
        <p:nvCxnSpPr>
          <p:cNvPr id="28" name="Straight Arrow Connector 27">
            <a:extLst>
              <a:ext uri="{FF2B5EF4-FFF2-40B4-BE49-F238E27FC236}">
                <a16:creationId xmlns:a16="http://schemas.microsoft.com/office/drawing/2014/main" id="{40678534-6BDF-A09F-2C23-5288DFAE6606}"/>
              </a:ext>
            </a:extLst>
          </p:cNvPr>
          <p:cNvCxnSpPr>
            <a:cxnSpLocks/>
            <a:endCxn id="16" idx="2"/>
          </p:cNvCxnSpPr>
          <p:nvPr/>
        </p:nvCxnSpPr>
        <p:spPr>
          <a:xfrm flipH="1" flipV="1">
            <a:off x="7759414" y="3101412"/>
            <a:ext cx="1255375" cy="180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C829379D-87FF-91DB-A163-0280FA1DA984}"/>
              </a:ext>
            </a:extLst>
          </p:cNvPr>
          <p:cNvCxnSpPr>
            <a:cxnSpLocks/>
            <a:stCxn id="16" idx="1"/>
          </p:cNvCxnSpPr>
          <p:nvPr/>
        </p:nvCxnSpPr>
        <p:spPr>
          <a:xfrm flipH="1">
            <a:off x="6163747" y="2620400"/>
            <a:ext cx="797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A7E45E08-22B6-BEBD-E7AD-4F3B0906E43A}"/>
              </a:ext>
            </a:extLst>
          </p:cNvPr>
          <p:cNvCxnSpPr>
            <a:cxnSpLocks/>
          </p:cNvCxnSpPr>
          <p:nvPr/>
        </p:nvCxnSpPr>
        <p:spPr>
          <a:xfrm>
            <a:off x="5105400" y="3543300"/>
            <a:ext cx="3929858" cy="1639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E39DD08E-B291-EEA1-F867-3EB604C4AE03}"/>
              </a:ext>
            </a:extLst>
          </p:cNvPr>
          <p:cNvSpPr/>
          <p:nvPr/>
        </p:nvSpPr>
        <p:spPr>
          <a:xfrm>
            <a:off x="7836762" y="5728564"/>
            <a:ext cx="1236870" cy="76731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Distance from angler</a:t>
            </a:r>
          </a:p>
        </p:txBody>
      </p:sp>
      <p:cxnSp>
        <p:nvCxnSpPr>
          <p:cNvPr id="29" name="Straight Arrow Connector 28">
            <a:extLst>
              <a:ext uri="{FF2B5EF4-FFF2-40B4-BE49-F238E27FC236}">
                <a16:creationId xmlns:a16="http://schemas.microsoft.com/office/drawing/2014/main" id="{C772F293-E9DF-B424-B5C5-A2AE5F5B2460}"/>
              </a:ext>
            </a:extLst>
          </p:cNvPr>
          <p:cNvCxnSpPr>
            <a:cxnSpLocks/>
          </p:cNvCxnSpPr>
          <p:nvPr/>
        </p:nvCxnSpPr>
        <p:spPr>
          <a:xfrm flipV="1">
            <a:off x="9073632" y="5449730"/>
            <a:ext cx="377670" cy="6528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4376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raphic 14" descr="Arrow circle with solid fill">
            <a:extLst>
              <a:ext uri="{FF2B5EF4-FFF2-40B4-BE49-F238E27FC236}">
                <a16:creationId xmlns:a16="http://schemas.microsoft.com/office/drawing/2014/main" id="{380921D0-25D2-0798-3F85-C74FC2459B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6771" y="1690688"/>
            <a:ext cx="4016657" cy="4016657"/>
          </a:xfrm>
          <a:prstGeom prst="rect">
            <a:avLst/>
          </a:prstGeom>
        </p:spPr>
      </p:pic>
      <p:sp>
        <p:nvSpPr>
          <p:cNvPr id="2" name="Title 1">
            <a:extLst>
              <a:ext uri="{FF2B5EF4-FFF2-40B4-BE49-F238E27FC236}">
                <a16:creationId xmlns:a16="http://schemas.microsoft.com/office/drawing/2014/main" id="{850E5EFC-8268-2B85-5727-FA62A3E49584}"/>
              </a:ext>
            </a:extLst>
          </p:cNvPr>
          <p:cNvSpPr>
            <a:spLocks noGrp="1"/>
          </p:cNvSpPr>
          <p:nvPr>
            <p:ph type="title"/>
          </p:nvPr>
        </p:nvSpPr>
        <p:spPr/>
        <p:txBody>
          <a:bodyPr>
            <a:normAutofit/>
          </a:bodyPr>
          <a:lstStyle/>
          <a:p>
            <a:r>
              <a:rPr lang="en-US" sz="3200" dirty="0"/>
              <a:t>Individual-based model of the WI inland recreational fishery</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6205372B-C793-B3E6-7CF6-EB904815B6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2502" y="2395277"/>
            <a:ext cx="850449" cy="850449"/>
          </a:xfrm>
          <a:prstGeom prst="rect">
            <a:avLst/>
          </a:prstGeom>
        </p:spPr>
      </p:pic>
      <p:pic>
        <p:nvPicPr>
          <p:cNvPr id="6" name="Graphic 5" descr="Thought outline">
            <a:extLst>
              <a:ext uri="{FF2B5EF4-FFF2-40B4-BE49-F238E27FC236}">
                <a16:creationId xmlns:a16="http://schemas.microsoft.com/office/drawing/2014/main" id="{3C77A02F-0A6F-529E-3144-E0DAF210921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0037" y="2129051"/>
            <a:ext cx="3039999" cy="3039999"/>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13963308-5163-436A-62FD-1AE914313E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84443" y="3292187"/>
            <a:ext cx="2179436" cy="2179436"/>
          </a:xfrm>
          <a:prstGeom prst="rect">
            <a:avLst/>
          </a:prstGeom>
        </p:spPr>
      </p:pic>
      <p:pic>
        <p:nvPicPr>
          <p:cNvPr id="8" name="Picture 7" descr="A black background with a black square&#10;&#10;Description automatically generated with medium confidence">
            <a:extLst>
              <a:ext uri="{FF2B5EF4-FFF2-40B4-BE49-F238E27FC236}">
                <a16:creationId xmlns:a16="http://schemas.microsoft.com/office/drawing/2014/main" id="{A8599652-9641-50BF-4EA0-21E8BDC73D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7148" y="3080666"/>
            <a:ext cx="924625" cy="924625"/>
          </a:xfrm>
          <a:prstGeom prst="rect">
            <a:avLst/>
          </a:prstGeom>
        </p:spPr>
      </p:pic>
      <p:pic>
        <p:nvPicPr>
          <p:cNvPr id="9" name="Graphic 8" descr="Fish with solid fill">
            <a:extLst>
              <a:ext uri="{FF2B5EF4-FFF2-40B4-BE49-F238E27FC236}">
                <a16:creationId xmlns:a16="http://schemas.microsoft.com/office/drawing/2014/main" id="{493744DE-4A39-CDF7-D22E-945F1A3DA97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59921" y="2568933"/>
            <a:ext cx="1305196" cy="1305196"/>
          </a:xfrm>
          <a:prstGeom prst="rect">
            <a:avLst/>
          </a:prstGeom>
        </p:spPr>
      </p:pic>
      <p:pic>
        <p:nvPicPr>
          <p:cNvPr id="10" name="Graphic 9" descr="Fish with solid fill">
            <a:extLst>
              <a:ext uri="{FF2B5EF4-FFF2-40B4-BE49-F238E27FC236}">
                <a16:creationId xmlns:a16="http://schemas.microsoft.com/office/drawing/2014/main" id="{F1FBEEF3-C279-5AA3-9CC2-048C2362994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34430" y="3951275"/>
            <a:ext cx="767241" cy="767241"/>
          </a:xfrm>
          <a:prstGeom prst="rect">
            <a:avLst/>
          </a:prstGeom>
        </p:spPr>
      </p:pic>
      <p:pic>
        <p:nvPicPr>
          <p:cNvPr id="11" name="Graphic 10" descr="Fish with solid fill">
            <a:extLst>
              <a:ext uri="{FF2B5EF4-FFF2-40B4-BE49-F238E27FC236}">
                <a16:creationId xmlns:a16="http://schemas.microsoft.com/office/drawing/2014/main" id="{BF9E6987-B94E-231E-6A9D-812D9247B84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10918" y="3260104"/>
            <a:ext cx="1007323" cy="1007323"/>
          </a:xfrm>
          <a:prstGeom prst="rect">
            <a:avLst/>
          </a:prstGeom>
        </p:spPr>
      </p:pic>
      <p:pic>
        <p:nvPicPr>
          <p:cNvPr id="12" name="Graphic 11" descr="Fish with solid fill">
            <a:extLst>
              <a:ext uri="{FF2B5EF4-FFF2-40B4-BE49-F238E27FC236}">
                <a16:creationId xmlns:a16="http://schemas.microsoft.com/office/drawing/2014/main" id="{BB7E3CEF-1A1A-54D7-1275-6976CCDA79F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28098" y="2687338"/>
            <a:ext cx="820286" cy="820286"/>
          </a:xfrm>
          <a:prstGeom prst="rect">
            <a:avLst/>
          </a:prstGeom>
        </p:spPr>
      </p:pic>
      <p:pic>
        <p:nvPicPr>
          <p:cNvPr id="13" name="Graphic 12" descr="Fish with solid fill">
            <a:extLst>
              <a:ext uri="{FF2B5EF4-FFF2-40B4-BE49-F238E27FC236}">
                <a16:creationId xmlns:a16="http://schemas.microsoft.com/office/drawing/2014/main" id="{DD4B4260-AD6B-4C75-62C7-9393D1DF19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78159" y="3988690"/>
            <a:ext cx="1126135" cy="1126135"/>
          </a:xfrm>
          <a:prstGeom prst="rect">
            <a:avLst/>
          </a:prstGeom>
        </p:spPr>
      </p:pic>
      <p:sp>
        <p:nvSpPr>
          <p:cNvPr id="17" name="TextBox 16">
            <a:extLst>
              <a:ext uri="{FF2B5EF4-FFF2-40B4-BE49-F238E27FC236}">
                <a16:creationId xmlns:a16="http://schemas.microsoft.com/office/drawing/2014/main" id="{9B98FBB1-F732-7C53-BE6C-C56A0D7EC5DB}"/>
              </a:ext>
            </a:extLst>
          </p:cNvPr>
          <p:cNvSpPr txBox="1"/>
          <p:nvPr/>
        </p:nvSpPr>
        <p:spPr>
          <a:xfrm>
            <a:off x="821584" y="5607413"/>
            <a:ext cx="3101836"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Angler diaries</a:t>
            </a:r>
          </a:p>
          <a:p>
            <a:pPr marL="285750" indent="-285750">
              <a:buFont typeface="Arial" panose="020B0604020202020204" pitchFamily="34" charset="0"/>
              <a:buChar char="•"/>
            </a:pPr>
            <a:r>
              <a:rPr lang="en-US" sz="2400" dirty="0"/>
              <a:t>Choice experiment</a:t>
            </a:r>
          </a:p>
        </p:txBody>
      </p:sp>
      <p:sp>
        <p:nvSpPr>
          <p:cNvPr id="18" name="TextBox 17">
            <a:extLst>
              <a:ext uri="{FF2B5EF4-FFF2-40B4-BE49-F238E27FC236}">
                <a16:creationId xmlns:a16="http://schemas.microsoft.com/office/drawing/2014/main" id="{C20F6D58-72FF-14AD-1AA1-AC8748992188}"/>
              </a:ext>
            </a:extLst>
          </p:cNvPr>
          <p:cNvSpPr txBox="1"/>
          <p:nvPr/>
        </p:nvSpPr>
        <p:spPr>
          <a:xfrm>
            <a:off x="4462718" y="5603828"/>
            <a:ext cx="3101836" cy="461665"/>
          </a:xfrm>
          <a:prstGeom prst="rect">
            <a:avLst/>
          </a:prstGeom>
          <a:noFill/>
        </p:spPr>
        <p:txBody>
          <a:bodyPr wrap="square" rtlCol="0">
            <a:spAutoFit/>
          </a:bodyPr>
          <a:lstStyle/>
          <a:p>
            <a:pPr marL="285750" indent="-285750">
              <a:buFont typeface="Arial" panose="020B0604020202020204" pitchFamily="34" charset="0"/>
              <a:buChar char="•"/>
            </a:pPr>
            <a:r>
              <a:rPr lang="en-US" sz="2400" dirty="0"/>
              <a:t>Creel survey data</a:t>
            </a:r>
          </a:p>
        </p:txBody>
      </p:sp>
      <p:sp>
        <p:nvSpPr>
          <p:cNvPr id="19" name="TextBox 18">
            <a:extLst>
              <a:ext uri="{FF2B5EF4-FFF2-40B4-BE49-F238E27FC236}">
                <a16:creationId xmlns:a16="http://schemas.microsoft.com/office/drawing/2014/main" id="{5EC4CF7D-89EB-D856-DDCE-A4BECA788EF6}"/>
              </a:ext>
            </a:extLst>
          </p:cNvPr>
          <p:cNvSpPr txBox="1"/>
          <p:nvPr/>
        </p:nvSpPr>
        <p:spPr>
          <a:xfrm>
            <a:off x="8063660" y="5603828"/>
            <a:ext cx="3850835"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Electrofishing surveys</a:t>
            </a:r>
          </a:p>
          <a:p>
            <a:pPr marL="285750" indent="-285750">
              <a:buFont typeface="Arial" panose="020B0604020202020204" pitchFamily="34" charset="0"/>
              <a:buChar char="•"/>
            </a:pPr>
            <a:r>
              <a:rPr lang="en-US" sz="2400" dirty="0"/>
              <a:t>Walleye pop </a:t>
            </a:r>
            <a:r>
              <a:rPr lang="en-US" sz="2400" dirty="0" err="1"/>
              <a:t>dy</a:t>
            </a:r>
            <a:r>
              <a:rPr lang="en-US" sz="2400" dirty="0"/>
              <a:t> research</a:t>
            </a:r>
          </a:p>
        </p:txBody>
      </p:sp>
    </p:spTree>
    <p:extLst>
      <p:ext uri="{BB962C8B-B14F-4D97-AF65-F5344CB8AC3E}">
        <p14:creationId xmlns:p14="http://schemas.microsoft.com/office/powerpoint/2010/main" val="21793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42B9-C303-83B6-7295-CD1679A839E0}"/>
            </a:ext>
          </a:extLst>
        </p:cNvPr>
        <p:cNvGrpSpPr/>
        <p:nvPr/>
      </p:nvGrpSpPr>
      <p:grpSpPr>
        <a:xfrm>
          <a:off x="0" y="0"/>
          <a:ext cx="0" cy="0"/>
          <a:chOff x="0" y="0"/>
          <a:chExt cx="0" cy="0"/>
        </a:xfrm>
      </p:grpSpPr>
      <p:pic>
        <p:nvPicPr>
          <p:cNvPr id="11" name="Picture 10" descr="A map of different shapes and sizes&#10;&#10;Description automatically generated">
            <a:extLst>
              <a:ext uri="{FF2B5EF4-FFF2-40B4-BE49-F238E27FC236}">
                <a16:creationId xmlns:a16="http://schemas.microsoft.com/office/drawing/2014/main" id="{6CF011B4-B34F-1E2E-1FCD-7BF2CBCB487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288467" y="464124"/>
            <a:ext cx="9029705" cy="6019803"/>
          </a:xfrm>
          <a:prstGeom prst="rect">
            <a:avLst/>
          </a:prstGeom>
        </p:spPr>
      </p:pic>
      <p:pic>
        <p:nvPicPr>
          <p:cNvPr id="22" name="Graphic 21" descr="Close with solid fill">
            <a:extLst>
              <a:ext uri="{FF2B5EF4-FFF2-40B4-BE49-F238E27FC236}">
                <a16:creationId xmlns:a16="http://schemas.microsoft.com/office/drawing/2014/main" id="{84E9AE15-221A-31F9-6A7D-DF992FBA344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37858" y="2016399"/>
            <a:ext cx="546019" cy="546019"/>
          </a:xfrm>
          <a:prstGeom prst="rect">
            <a:avLst/>
          </a:prstGeom>
        </p:spPr>
      </p:pic>
      <p:pic>
        <p:nvPicPr>
          <p:cNvPr id="15" name="Graphic 14" descr="Man with solid fill">
            <a:extLst>
              <a:ext uri="{FF2B5EF4-FFF2-40B4-BE49-F238E27FC236}">
                <a16:creationId xmlns:a16="http://schemas.microsoft.com/office/drawing/2014/main" id="{AA4C775D-38D1-D842-053D-18A663A123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57164" y="1650241"/>
            <a:ext cx="707409" cy="707409"/>
          </a:xfrm>
          <a:prstGeom prst="rect">
            <a:avLst/>
          </a:prstGeom>
        </p:spPr>
      </p:pic>
      <p:pic>
        <p:nvPicPr>
          <p:cNvPr id="24" name="Graphic 23" descr="Close with solid fill">
            <a:extLst>
              <a:ext uri="{FF2B5EF4-FFF2-40B4-BE49-F238E27FC236}">
                <a16:creationId xmlns:a16="http://schemas.microsoft.com/office/drawing/2014/main" id="{F4710E59-E5B2-FD7F-2811-7D9A76D935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2591" y="3101642"/>
            <a:ext cx="546019" cy="546019"/>
          </a:xfrm>
          <a:prstGeom prst="rect">
            <a:avLst/>
          </a:prstGeom>
        </p:spPr>
      </p:pic>
      <p:pic>
        <p:nvPicPr>
          <p:cNvPr id="16" name="Graphic 15" descr="Man with solid fill">
            <a:extLst>
              <a:ext uri="{FF2B5EF4-FFF2-40B4-BE49-F238E27FC236}">
                <a16:creationId xmlns:a16="http://schemas.microsoft.com/office/drawing/2014/main" id="{5DA6BAD3-1280-03CF-036E-369CA53B421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11068" y="2721591"/>
            <a:ext cx="707409" cy="707409"/>
          </a:xfrm>
          <a:prstGeom prst="rect">
            <a:avLst/>
          </a:prstGeom>
        </p:spPr>
      </p:pic>
      <p:pic>
        <p:nvPicPr>
          <p:cNvPr id="23" name="Graphic 22" descr="Close with solid fill">
            <a:extLst>
              <a:ext uri="{FF2B5EF4-FFF2-40B4-BE49-F238E27FC236}">
                <a16:creationId xmlns:a16="http://schemas.microsoft.com/office/drawing/2014/main" id="{F92D6CBD-92EE-8C3E-31BD-2726D24B4C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41076" y="3680341"/>
            <a:ext cx="546019" cy="546019"/>
          </a:xfrm>
          <a:prstGeom prst="rect">
            <a:avLst/>
          </a:prstGeom>
        </p:spPr>
      </p:pic>
      <p:pic>
        <p:nvPicPr>
          <p:cNvPr id="17" name="Graphic 16" descr="Man with solid fill">
            <a:extLst>
              <a:ext uri="{FF2B5EF4-FFF2-40B4-BE49-F238E27FC236}">
                <a16:creationId xmlns:a16="http://schemas.microsoft.com/office/drawing/2014/main" id="{99C98B3B-D447-4291-D55E-8B90C104A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60382" y="3340181"/>
            <a:ext cx="707409" cy="707409"/>
          </a:xfrm>
          <a:prstGeom prst="rect">
            <a:avLst/>
          </a:prstGeom>
        </p:spPr>
      </p:pic>
      <p:pic>
        <p:nvPicPr>
          <p:cNvPr id="25" name="Graphic 24" descr="Close with solid fill">
            <a:extLst>
              <a:ext uri="{FF2B5EF4-FFF2-40B4-BE49-F238E27FC236}">
                <a16:creationId xmlns:a16="http://schemas.microsoft.com/office/drawing/2014/main" id="{7E77729C-5F90-463A-A6EB-E3A8453C44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6266" y="4283211"/>
            <a:ext cx="546019" cy="546019"/>
          </a:xfrm>
          <a:prstGeom prst="rect">
            <a:avLst/>
          </a:prstGeom>
        </p:spPr>
      </p:pic>
      <p:pic>
        <p:nvPicPr>
          <p:cNvPr id="18" name="Graphic 17" descr="Man with solid fill">
            <a:extLst>
              <a:ext uri="{FF2B5EF4-FFF2-40B4-BE49-F238E27FC236}">
                <a16:creationId xmlns:a16="http://schemas.microsoft.com/office/drawing/2014/main" id="{ECD04EB2-946F-53BF-5225-C5CE2EF86D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35572" y="3895350"/>
            <a:ext cx="707409" cy="707409"/>
          </a:xfrm>
          <a:prstGeom prst="rect">
            <a:avLst/>
          </a:prstGeom>
        </p:spPr>
      </p:pic>
      <p:pic>
        <p:nvPicPr>
          <p:cNvPr id="21" name="Graphic 20" descr="Close with solid fill">
            <a:extLst>
              <a:ext uri="{FF2B5EF4-FFF2-40B4-BE49-F238E27FC236}">
                <a16:creationId xmlns:a16="http://schemas.microsoft.com/office/drawing/2014/main" id="{B4152F32-D5BA-8868-F5AA-030151AFB1F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89009" y="4956463"/>
            <a:ext cx="546019" cy="546019"/>
          </a:xfrm>
          <a:prstGeom prst="rect">
            <a:avLst/>
          </a:prstGeom>
        </p:spPr>
      </p:pic>
      <p:pic>
        <p:nvPicPr>
          <p:cNvPr id="19" name="Graphic 18" descr="Man with solid fill">
            <a:extLst>
              <a:ext uri="{FF2B5EF4-FFF2-40B4-BE49-F238E27FC236}">
                <a16:creationId xmlns:a16="http://schemas.microsoft.com/office/drawing/2014/main" id="{D6910AE7-A8B0-2A96-718A-0DDEA994B5D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08315" y="4602759"/>
            <a:ext cx="707409" cy="707409"/>
          </a:xfrm>
          <a:prstGeom prst="rect">
            <a:avLst/>
          </a:prstGeom>
        </p:spPr>
      </p:pic>
      <p:cxnSp>
        <p:nvCxnSpPr>
          <p:cNvPr id="3" name="Straight Arrow Connector 2">
            <a:extLst>
              <a:ext uri="{FF2B5EF4-FFF2-40B4-BE49-F238E27FC236}">
                <a16:creationId xmlns:a16="http://schemas.microsoft.com/office/drawing/2014/main" id="{AFC79C33-4D66-670D-82AF-CEB393AAAD44}"/>
              </a:ext>
            </a:extLst>
          </p:cNvPr>
          <p:cNvCxnSpPr>
            <a:cxnSpLocks/>
          </p:cNvCxnSpPr>
          <p:nvPr/>
        </p:nvCxnSpPr>
        <p:spPr>
          <a:xfrm>
            <a:off x="6307452" y="2357650"/>
            <a:ext cx="257121" cy="204768"/>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E60740A1-80BD-13F4-E3F3-BE50BA08077A}"/>
              </a:ext>
            </a:extLst>
          </p:cNvPr>
          <p:cNvCxnSpPr>
            <a:cxnSpLocks/>
          </p:cNvCxnSpPr>
          <p:nvPr/>
        </p:nvCxnSpPr>
        <p:spPr>
          <a:xfrm>
            <a:off x="6307452" y="2278038"/>
            <a:ext cx="1585139" cy="0"/>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0A8DFCA-E60C-9E4E-39A3-51086D3E65EF}"/>
              </a:ext>
            </a:extLst>
          </p:cNvPr>
          <p:cNvCxnSpPr>
            <a:cxnSpLocks/>
          </p:cNvCxnSpPr>
          <p:nvPr/>
        </p:nvCxnSpPr>
        <p:spPr>
          <a:xfrm flipH="1" flipV="1">
            <a:off x="5857162" y="2260384"/>
            <a:ext cx="233516" cy="35308"/>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86FB6CA-2852-E807-2387-3FCE8411BA27}"/>
              </a:ext>
            </a:extLst>
          </p:cNvPr>
          <p:cNvCxnSpPr>
            <a:cxnSpLocks/>
          </p:cNvCxnSpPr>
          <p:nvPr/>
        </p:nvCxnSpPr>
        <p:spPr>
          <a:xfrm flipH="1" flipV="1">
            <a:off x="5803319" y="982639"/>
            <a:ext cx="422610" cy="1265234"/>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B6795C9-6339-5A4F-0FB9-A392D4D3429B}"/>
              </a:ext>
            </a:extLst>
          </p:cNvPr>
          <p:cNvCxnSpPr>
            <a:cxnSpLocks/>
            <a:stCxn id="15" idx="2"/>
          </p:cNvCxnSpPr>
          <p:nvPr/>
        </p:nvCxnSpPr>
        <p:spPr>
          <a:xfrm flipH="1">
            <a:off x="5632776" y="2357650"/>
            <a:ext cx="578093" cy="205929"/>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E35B372-1606-44E9-ACBB-DA354FA36FCF}"/>
              </a:ext>
            </a:extLst>
          </p:cNvPr>
          <p:cNvCxnSpPr>
            <a:cxnSpLocks/>
          </p:cNvCxnSpPr>
          <p:nvPr/>
        </p:nvCxnSpPr>
        <p:spPr>
          <a:xfrm flipV="1">
            <a:off x="6214644" y="1649080"/>
            <a:ext cx="1902335" cy="628958"/>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BA0001A-A850-9080-0A39-DC8D0B2452E4}"/>
              </a:ext>
            </a:extLst>
          </p:cNvPr>
          <p:cNvCxnSpPr>
            <a:cxnSpLocks/>
          </p:cNvCxnSpPr>
          <p:nvPr/>
        </p:nvCxnSpPr>
        <p:spPr>
          <a:xfrm flipH="1" flipV="1">
            <a:off x="5115724" y="1444312"/>
            <a:ext cx="1006517" cy="905946"/>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CBFA71F-9E7F-C0E9-A02F-5D11B0AFF60A}"/>
              </a:ext>
            </a:extLst>
          </p:cNvPr>
          <p:cNvCxnSpPr>
            <a:cxnSpLocks/>
          </p:cNvCxnSpPr>
          <p:nvPr/>
        </p:nvCxnSpPr>
        <p:spPr>
          <a:xfrm flipH="1">
            <a:off x="5578931" y="2468211"/>
            <a:ext cx="639893" cy="1389248"/>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828C75C-DFD0-BA1F-4B01-B7C0CBB24BBB}"/>
              </a:ext>
            </a:extLst>
          </p:cNvPr>
          <p:cNvSpPr txBox="1"/>
          <p:nvPr/>
        </p:nvSpPr>
        <p:spPr>
          <a:xfrm>
            <a:off x="7374750" y="555670"/>
            <a:ext cx="3366031" cy="923330"/>
          </a:xfrm>
          <a:prstGeom prst="rect">
            <a:avLst/>
          </a:prstGeom>
          <a:solidFill>
            <a:schemeClr val="tx2">
              <a:lumMod val="40000"/>
              <a:lumOff val="60000"/>
            </a:schemeClr>
          </a:solidFill>
        </p:spPr>
        <p:txBody>
          <a:bodyPr wrap="square" rtlCol="0">
            <a:spAutoFit/>
          </a:bodyPr>
          <a:lstStyle/>
          <a:p>
            <a:r>
              <a:rPr lang="en-US" dirty="0"/>
              <a:t>Choice probability ~</a:t>
            </a:r>
          </a:p>
          <a:p>
            <a:r>
              <a:rPr lang="en-US" dirty="0"/>
              <a:t>	distance</a:t>
            </a:r>
          </a:p>
          <a:p>
            <a:r>
              <a:rPr lang="en-US" dirty="0"/>
              <a:t>	walleye population</a:t>
            </a:r>
          </a:p>
        </p:txBody>
      </p:sp>
      <p:pic>
        <p:nvPicPr>
          <p:cNvPr id="31" name="Picture 30" descr="A black background with a black square&#10;&#10;Description automatically generated with medium confidence">
            <a:extLst>
              <a:ext uri="{FF2B5EF4-FFF2-40B4-BE49-F238E27FC236}">
                <a16:creationId xmlns:a16="http://schemas.microsoft.com/office/drawing/2014/main" id="{070A819E-C28C-A1C0-6F24-F3A42958E06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59355" y="2299160"/>
            <a:ext cx="547829" cy="547829"/>
          </a:xfrm>
          <a:prstGeom prst="rect">
            <a:avLst/>
          </a:prstGeom>
        </p:spPr>
      </p:pic>
      <p:pic>
        <p:nvPicPr>
          <p:cNvPr id="32" name="Graphic 31" descr="Thought outline">
            <a:extLst>
              <a:ext uri="{FF2B5EF4-FFF2-40B4-BE49-F238E27FC236}">
                <a16:creationId xmlns:a16="http://schemas.microsoft.com/office/drawing/2014/main" id="{852D6B62-13C9-6AB7-3612-42BC8A651B5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949498" y="2023204"/>
            <a:ext cx="1958259" cy="1958259"/>
          </a:xfrm>
          <a:prstGeom prst="rect">
            <a:avLst/>
          </a:prstGeom>
        </p:spPr>
      </p:pic>
    </p:spTree>
    <p:extLst>
      <p:ext uri="{BB962C8B-B14F-4D97-AF65-F5344CB8AC3E}">
        <p14:creationId xmlns:p14="http://schemas.microsoft.com/office/powerpoint/2010/main" val="3623049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DA903-D77E-16D7-3E36-CBE28FB029B5}"/>
            </a:ext>
          </a:extLst>
        </p:cNvPr>
        <p:cNvGrpSpPr/>
        <p:nvPr/>
      </p:nvGrpSpPr>
      <p:grpSpPr>
        <a:xfrm>
          <a:off x="0" y="0"/>
          <a:ext cx="0" cy="0"/>
          <a:chOff x="0" y="0"/>
          <a:chExt cx="0" cy="0"/>
        </a:xfrm>
      </p:grpSpPr>
      <p:pic>
        <p:nvPicPr>
          <p:cNvPr id="11" name="Picture 10" descr="A map of different shapes and sizes&#10;&#10;Description automatically generated">
            <a:extLst>
              <a:ext uri="{FF2B5EF4-FFF2-40B4-BE49-F238E27FC236}">
                <a16:creationId xmlns:a16="http://schemas.microsoft.com/office/drawing/2014/main" id="{05AB8AD3-736E-A7A0-6498-688DE5AC217F}"/>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288467" y="464124"/>
            <a:ext cx="9029705" cy="6019803"/>
          </a:xfrm>
          <a:prstGeom prst="rect">
            <a:avLst/>
          </a:prstGeom>
        </p:spPr>
      </p:pic>
      <p:pic>
        <p:nvPicPr>
          <p:cNvPr id="22" name="Graphic 21" descr="Close with solid fill">
            <a:extLst>
              <a:ext uri="{FF2B5EF4-FFF2-40B4-BE49-F238E27FC236}">
                <a16:creationId xmlns:a16="http://schemas.microsoft.com/office/drawing/2014/main" id="{7DAD41B3-2B1E-3659-34A3-AA5E85F6FD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37858" y="2016399"/>
            <a:ext cx="546019" cy="546019"/>
          </a:xfrm>
          <a:prstGeom prst="rect">
            <a:avLst/>
          </a:prstGeom>
        </p:spPr>
      </p:pic>
      <p:pic>
        <p:nvPicPr>
          <p:cNvPr id="15" name="Graphic 14" descr="Man with solid fill">
            <a:extLst>
              <a:ext uri="{FF2B5EF4-FFF2-40B4-BE49-F238E27FC236}">
                <a16:creationId xmlns:a16="http://schemas.microsoft.com/office/drawing/2014/main" id="{4A9DB6E0-FB55-F891-4F8B-DFD48D98662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114" y="1670463"/>
            <a:ext cx="707409" cy="707409"/>
          </a:xfrm>
          <a:prstGeom prst="rect">
            <a:avLst/>
          </a:prstGeom>
        </p:spPr>
      </p:pic>
      <p:pic>
        <p:nvPicPr>
          <p:cNvPr id="24" name="Graphic 23" descr="Close with solid fill">
            <a:extLst>
              <a:ext uri="{FF2B5EF4-FFF2-40B4-BE49-F238E27FC236}">
                <a16:creationId xmlns:a16="http://schemas.microsoft.com/office/drawing/2014/main" id="{5E089411-F344-DD30-2198-6ED1E08B039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2591" y="3101642"/>
            <a:ext cx="546019" cy="546019"/>
          </a:xfrm>
          <a:prstGeom prst="rect">
            <a:avLst/>
          </a:prstGeom>
        </p:spPr>
      </p:pic>
      <p:pic>
        <p:nvPicPr>
          <p:cNvPr id="16" name="Graphic 15" descr="Man with solid fill">
            <a:extLst>
              <a:ext uri="{FF2B5EF4-FFF2-40B4-BE49-F238E27FC236}">
                <a16:creationId xmlns:a16="http://schemas.microsoft.com/office/drawing/2014/main" id="{C80CB593-6E0C-1FDC-B77B-C1EA80EDD47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64191" y="2425866"/>
            <a:ext cx="707409" cy="707409"/>
          </a:xfrm>
          <a:prstGeom prst="rect">
            <a:avLst/>
          </a:prstGeom>
        </p:spPr>
      </p:pic>
      <p:pic>
        <p:nvPicPr>
          <p:cNvPr id="23" name="Graphic 22" descr="Close with solid fill">
            <a:extLst>
              <a:ext uri="{FF2B5EF4-FFF2-40B4-BE49-F238E27FC236}">
                <a16:creationId xmlns:a16="http://schemas.microsoft.com/office/drawing/2014/main" id="{6DC0F30D-6A92-8CE6-81F4-C3634B3533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41076" y="3680341"/>
            <a:ext cx="546019" cy="546019"/>
          </a:xfrm>
          <a:prstGeom prst="rect">
            <a:avLst/>
          </a:prstGeom>
        </p:spPr>
      </p:pic>
      <p:pic>
        <p:nvPicPr>
          <p:cNvPr id="17" name="Graphic 16" descr="Man with solid fill">
            <a:extLst>
              <a:ext uri="{FF2B5EF4-FFF2-40B4-BE49-F238E27FC236}">
                <a16:creationId xmlns:a16="http://schemas.microsoft.com/office/drawing/2014/main" id="{F83DA484-B283-236E-AF25-32A109C3F7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47479" y="2033878"/>
            <a:ext cx="707409" cy="707409"/>
          </a:xfrm>
          <a:prstGeom prst="rect">
            <a:avLst/>
          </a:prstGeom>
        </p:spPr>
      </p:pic>
      <p:pic>
        <p:nvPicPr>
          <p:cNvPr id="25" name="Graphic 24" descr="Close with solid fill">
            <a:extLst>
              <a:ext uri="{FF2B5EF4-FFF2-40B4-BE49-F238E27FC236}">
                <a16:creationId xmlns:a16="http://schemas.microsoft.com/office/drawing/2014/main" id="{4BA4D4FB-3DB6-ADA4-5DD4-0FF7E7684C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6266" y="4283211"/>
            <a:ext cx="546019" cy="546019"/>
          </a:xfrm>
          <a:prstGeom prst="rect">
            <a:avLst/>
          </a:prstGeom>
        </p:spPr>
      </p:pic>
      <p:pic>
        <p:nvPicPr>
          <p:cNvPr id="18" name="Graphic 17" descr="Man with solid fill">
            <a:extLst>
              <a:ext uri="{FF2B5EF4-FFF2-40B4-BE49-F238E27FC236}">
                <a16:creationId xmlns:a16="http://schemas.microsoft.com/office/drawing/2014/main" id="{BC614041-A67A-A7BE-DD89-0E38ECD92AD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04389" y="3043614"/>
            <a:ext cx="707409" cy="707409"/>
          </a:xfrm>
          <a:prstGeom prst="rect">
            <a:avLst/>
          </a:prstGeom>
        </p:spPr>
      </p:pic>
      <p:pic>
        <p:nvPicPr>
          <p:cNvPr id="21" name="Graphic 20" descr="Close with solid fill">
            <a:extLst>
              <a:ext uri="{FF2B5EF4-FFF2-40B4-BE49-F238E27FC236}">
                <a16:creationId xmlns:a16="http://schemas.microsoft.com/office/drawing/2014/main" id="{430D22C9-B512-4BB0-B4CD-94F10F9DF0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89009" y="4956463"/>
            <a:ext cx="546019" cy="546019"/>
          </a:xfrm>
          <a:prstGeom prst="rect">
            <a:avLst/>
          </a:prstGeom>
        </p:spPr>
      </p:pic>
      <p:pic>
        <p:nvPicPr>
          <p:cNvPr id="19" name="Graphic 18" descr="Man with solid fill">
            <a:extLst>
              <a:ext uri="{FF2B5EF4-FFF2-40B4-BE49-F238E27FC236}">
                <a16:creationId xmlns:a16="http://schemas.microsoft.com/office/drawing/2014/main" id="{181B48C9-1BF9-A21E-75AF-E5BB48835C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95910" y="3872655"/>
            <a:ext cx="707409" cy="707409"/>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453DADEF-F3B6-E148-94B1-6F2B323DE47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44228" y="1019496"/>
            <a:ext cx="2235296" cy="2235296"/>
          </a:xfrm>
          <a:prstGeom prst="rect">
            <a:avLst/>
          </a:prstGeom>
        </p:spPr>
      </p:pic>
      <p:pic>
        <p:nvPicPr>
          <p:cNvPr id="6" name="Graphic 5" descr="Fish with solid fill">
            <a:extLst>
              <a:ext uri="{FF2B5EF4-FFF2-40B4-BE49-F238E27FC236}">
                <a16:creationId xmlns:a16="http://schemas.microsoft.com/office/drawing/2014/main" id="{118F3349-FE99-AF9C-831A-6FDE0BADD2E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5400000">
            <a:off x="9703396" y="1796446"/>
            <a:ext cx="1305196" cy="1305196"/>
          </a:xfrm>
          <a:prstGeom prst="rect">
            <a:avLst/>
          </a:prstGeom>
        </p:spPr>
      </p:pic>
      <p:pic>
        <p:nvPicPr>
          <p:cNvPr id="7" name="Graphic 6" descr="Fish with solid fill">
            <a:extLst>
              <a:ext uri="{FF2B5EF4-FFF2-40B4-BE49-F238E27FC236}">
                <a16:creationId xmlns:a16="http://schemas.microsoft.com/office/drawing/2014/main" id="{C7E3FFA6-CF22-B389-7681-B49F77BD51A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5400000">
            <a:off x="10306480" y="2137144"/>
            <a:ext cx="968352" cy="968352"/>
          </a:xfrm>
          <a:prstGeom prst="rect">
            <a:avLst/>
          </a:prstGeom>
        </p:spPr>
      </p:pic>
      <p:cxnSp>
        <p:nvCxnSpPr>
          <p:cNvPr id="9" name="Straight Arrow Connector 8">
            <a:extLst>
              <a:ext uri="{FF2B5EF4-FFF2-40B4-BE49-F238E27FC236}">
                <a16:creationId xmlns:a16="http://schemas.microsoft.com/office/drawing/2014/main" id="{7AA0B6B5-1270-A9B0-8806-BF52CC2926A2}"/>
              </a:ext>
            </a:extLst>
          </p:cNvPr>
          <p:cNvCxnSpPr>
            <a:cxnSpLocks/>
          </p:cNvCxnSpPr>
          <p:nvPr/>
        </p:nvCxnSpPr>
        <p:spPr>
          <a:xfrm flipV="1">
            <a:off x="9084439" y="2652869"/>
            <a:ext cx="765287" cy="24199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20A4D40-FE4C-C51B-4406-0C611EA53E60}"/>
                  </a:ext>
                </a:extLst>
              </p:cNvPr>
              <p:cNvSpPr txBox="1"/>
              <p:nvPr/>
            </p:nvSpPr>
            <p:spPr>
              <a:xfrm>
                <a:off x="10058654" y="3449851"/>
                <a:ext cx="940193" cy="518604"/>
              </a:xfrm>
              <a:prstGeom prst="rect">
                <a:avLst/>
              </a:prstGeom>
              <a:solidFill>
                <a:schemeClr val="accent1">
                  <a:lumMod val="40000"/>
                  <a:lumOff val="6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𝐸</m:t>
                          </m:r>
                        </m:den>
                      </m:f>
                      <m:r>
                        <a:rPr lang="en-US" b="0" i="1" smtClean="0">
                          <a:latin typeface="Cambria Math" panose="02040503050406030204" pitchFamily="18" charset="0"/>
                        </a:rPr>
                        <m:t>=</m:t>
                      </m:r>
                      <m:r>
                        <a:rPr lang="en-US" b="0" i="1" smtClean="0">
                          <a:latin typeface="Cambria Math" panose="02040503050406030204" pitchFamily="18" charset="0"/>
                        </a:rPr>
                        <m:t>𝑞</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ea typeface="Cambria Math" panose="02040503050406030204" pitchFamily="18" charset="0"/>
                            </a:rPr>
                            <m:t>𝛽</m:t>
                          </m:r>
                        </m:sup>
                      </m:sSup>
                    </m:oMath>
                  </m:oMathPara>
                </a14:m>
                <a:endParaRPr lang="en-US" dirty="0"/>
              </a:p>
            </p:txBody>
          </p:sp>
        </mc:Choice>
        <mc:Fallback xmlns="">
          <p:sp>
            <p:nvSpPr>
              <p:cNvPr id="13" name="TextBox 12">
                <a:extLst>
                  <a:ext uri="{FF2B5EF4-FFF2-40B4-BE49-F238E27FC236}">
                    <a16:creationId xmlns:a16="http://schemas.microsoft.com/office/drawing/2014/main" id="{720A4D40-FE4C-C51B-4406-0C611EA53E60}"/>
                  </a:ext>
                </a:extLst>
              </p:cNvPr>
              <p:cNvSpPr txBox="1">
                <a:spLocks noRot="1" noChangeAspect="1" noMove="1" noResize="1" noEditPoints="1" noAdjustHandles="1" noChangeArrowheads="1" noChangeShapeType="1" noTextEdit="1"/>
              </p:cNvSpPr>
              <p:nvPr/>
            </p:nvSpPr>
            <p:spPr>
              <a:xfrm>
                <a:off x="10058654" y="3449851"/>
                <a:ext cx="940193" cy="518604"/>
              </a:xfrm>
              <a:prstGeom prst="rect">
                <a:avLst/>
              </a:prstGeom>
              <a:blipFill>
                <a:blip r:embed="rId11"/>
                <a:stretch>
                  <a:fillRect/>
                </a:stretch>
              </a:blipFill>
            </p:spPr>
            <p:txBody>
              <a:bodyPr/>
              <a:lstStyle/>
              <a:p>
                <a:r>
                  <a:rPr lang="en-US">
                    <a:noFill/>
                  </a:rPr>
                  <a:t> </a:t>
                </a:r>
              </a:p>
            </p:txBody>
          </p:sp>
        </mc:Fallback>
      </mc:AlternateContent>
      <p:pic>
        <p:nvPicPr>
          <p:cNvPr id="14" name="Picture 13" descr="A black background with a black square&#10;&#10;Description automatically generated with medium confidence">
            <a:extLst>
              <a:ext uri="{FF2B5EF4-FFF2-40B4-BE49-F238E27FC236}">
                <a16:creationId xmlns:a16="http://schemas.microsoft.com/office/drawing/2014/main" id="{C9FF852E-2115-68D5-B3C3-787E8BCB2D4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833101" y="4645097"/>
            <a:ext cx="1391297" cy="1391297"/>
          </a:xfrm>
          <a:prstGeom prst="rect">
            <a:avLst/>
          </a:prstGeom>
        </p:spPr>
      </p:pic>
      <p:pic>
        <p:nvPicPr>
          <p:cNvPr id="20" name="Picture 19" descr="A black background with a black square&#10;&#10;Description automatically generated with medium confidence">
            <a:extLst>
              <a:ext uri="{FF2B5EF4-FFF2-40B4-BE49-F238E27FC236}">
                <a16:creationId xmlns:a16="http://schemas.microsoft.com/office/drawing/2014/main" id="{4C8151DD-A340-5746-9916-93BFB676C29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885899" y="4613924"/>
            <a:ext cx="590257" cy="590257"/>
          </a:xfrm>
          <a:prstGeom prst="rect">
            <a:avLst/>
          </a:prstGeom>
        </p:spPr>
      </p:pic>
    </p:spTree>
    <p:extLst>
      <p:ext uri="{BB962C8B-B14F-4D97-AF65-F5344CB8AC3E}">
        <p14:creationId xmlns:p14="http://schemas.microsoft.com/office/powerpoint/2010/main" val="324447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5D70-7288-23FF-8A46-A59931383A81}"/>
            </a:ext>
          </a:extLst>
        </p:cNvPr>
        <p:cNvGrpSpPr/>
        <p:nvPr/>
      </p:nvGrpSpPr>
      <p:grpSpPr>
        <a:xfrm>
          <a:off x="0" y="0"/>
          <a:ext cx="0" cy="0"/>
          <a:chOff x="0" y="0"/>
          <a:chExt cx="0" cy="0"/>
        </a:xfrm>
      </p:grpSpPr>
      <p:pic>
        <p:nvPicPr>
          <p:cNvPr id="11" name="Picture 10" descr="A map of different shapes and sizes&#10;&#10;Description automatically generated">
            <a:extLst>
              <a:ext uri="{FF2B5EF4-FFF2-40B4-BE49-F238E27FC236}">
                <a16:creationId xmlns:a16="http://schemas.microsoft.com/office/drawing/2014/main" id="{82110142-ECA7-033E-4E20-2AF89AEC434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288467" y="464124"/>
            <a:ext cx="9029705" cy="6019803"/>
          </a:xfrm>
          <a:prstGeom prst="rect">
            <a:avLst/>
          </a:prstGeom>
        </p:spPr>
      </p:pic>
      <p:pic>
        <p:nvPicPr>
          <p:cNvPr id="22" name="Graphic 21" descr="Close with solid fill">
            <a:extLst>
              <a:ext uri="{FF2B5EF4-FFF2-40B4-BE49-F238E27FC236}">
                <a16:creationId xmlns:a16="http://schemas.microsoft.com/office/drawing/2014/main" id="{AFFB675B-6010-D605-E2C7-7D7A44551F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37858" y="2016399"/>
            <a:ext cx="546019" cy="546019"/>
          </a:xfrm>
          <a:prstGeom prst="rect">
            <a:avLst/>
          </a:prstGeom>
        </p:spPr>
      </p:pic>
      <p:pic>
        <p:nvPicPr>
          <p:cNvPr id="15" name="Graphic 14" descr="Man with solid fill">
            <a:extLst>
              <a:ext uri="{FF2B5EF4-FFF2-40B4-BE49-F238E27FC236}">
                <a16:creationId xmlns:a16="http://schemas.microsoft.com/office/drawing/2014/main" id="{79131FDE-8B62-89D4-FAF7-8AFE710BF75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57164" y="1650241"/>
            <a:ext cx="707409" cy="707409"/>
          </a:xfrm>
          <a:prstGeom prst="rect">
            <a:avLst/>
          </a:prstGeom>
        </p:spPr>
      </p:pic>
      <p:pic>
        <p:nvPicPr>
          <p:cNvPr id="24" name="Graphic 23" descr="Close with solid fill">
            <a:extLst>
              <a:ext uri="{FF2B5EF4-FFF2-40B4-BE49-F238E27FC236}">
                <a16:creationId xmlns:a16="http://schemas.microsoft.com/office/drawing/2014/main" id="{F1B2AF28-E43E-B879-3F98-EA52B598CF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2591" y="3101642"/>
            <a:ext cx="546019" cy="546019"/>
          </a:xfrm>
          <a:prstGeom prst="rect">
            <a:avLst/>
          </a:prstGeom>
        </p:spPr>
      </p:pic>
      <p:pic>
        <p:nvPicPr>
          <p:cNvPr id="16" name="Graphic 15" descr="Man with solid fill">
            <a:extLst>
              <a:ext uri="{FF2B5EF4-FFF2-40B4-BE49-F238E27FC236}">
                <a16:creationId xmlns:a16="http://schemas.microsoft.com/office/drawing/2014/main" id="{3B6C210E-C4B2-CDF4-5F02-391A105A9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11068" y="2721591"/>
            <a:ext cx="707409" cy="707409"/>
          </a:xfrm>
          <a:prstGeom prst="rect">
            <a:avLst/>
          </a:prstGeom>
        </p:spPr>
      </p:pic>
      <p:pic>
        <p:nvPicPr>
          <p:cNvPr id="23" name="Graphic 22" descr="Close with solid fill">
            <a:extLst>
              <a:ext uri="{FF2B5EF4-FFF2-40B4-BE49-F238E27FC236}">
                <a16:creationId xmlns:a16="http://schemas.microsoft.com/office/drawing/2014/main" id="{DB37D272-D9C8-EECC-C4CB-4E2BF64E73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41076" y="3680341"/>
            <a:ext cx="546019" cy="546019"/>
          </a:xfrm>
          <a:prstGeom prst="rect">
            <a:avLst/>
          </a:prstGeom>
        </p:spPr>
      </p:pic>
      <p:pic>
        <p:nvPicPr>
          <p:cNvPr id="17" name="Graphic 16" descr="Man with solid fill">
            <a:extLst>
              <a:ext uri="{FF2B5EF4-FFF2-40B4-BE49-F238E27FC236}">
                <a16:creationId xmlns:a16="http://schemas.microsoft.com/office/drawing/2014/main" id="{A887F60D-A109-9D72-96A0-B0B88E9828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60382" y="3340181"/>
            <a:ext cx="707409" cy="707409"/>
          </a:xfrm>
          <a:prstGeom prst="rect">
            <a:avLst/>
          </a:prstGeom>
        </p:spPr>
      </p:pic>
      <p:pic>
        <p:nvPicPr>
          <p:cNvPr id="25" name="Graphic 24" descr="Close with solid fill">
            <a:extLst>
              <a:ext uri="{FF2B5EF4-FFF2-40B4-BE49-F238E27FC236}">
                <a16:creationId xmlns:a16="http://schemas.microsoft.com/office/drawing/2014/main" id="{BFD4E5DD-F1FF-CAD6-6732-393206109E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6266" y="4283211"/>
            <a:ext cx="546019" cy="546019"/>
          </a:xfrm>
          <a:prstGeom prst="rect">
            <a:avLst/>
          </a:prstGeom>
        </p:spPr>
      </p:pic>
      <p:pic>
        <p:nvPicPr>
          <p:cNvPr id="18" name="Graphic 17" descr="Man with solid fill">
            <a:extLst>
              <a:ext uri="{FF2B5EF4-FFF2-40B4-BE49-F238E27FC236}">
                <a16:creationId xmlns:a16="http://schemas.microsoft.com/office/drawing/2014/main" id="{6818DC72-531D-BF2E-5829-93790368DA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35572" y="3895350"/>
            <a:ext cx="707409" cy="707409"/>
          </a:xfrm>
          <a:prstGeom prst="rect">
            <a:avLst/>
          </a:prstGeom>
        </p:spPr>
      </p:pic>
      <p:pic>
        <p:nvPicPr>
          <p:cNvPr id="21" name="Graphic 20" descr="Close with solid fill">
            <a:extLst>
              <a:ext uri="{FF2B5EF4-FFF2-40B4-BE49-F238E27FC236}">
                <a16:creationId xmlns:a16="http://schemas.microsoft.com/office/drawing/2014/main" id="{CDEF9299-C12A-8E21-6A96-A638B2B470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89009" y="4956463"/>
            <a:ext cx="546019" cy="546019"/>
          </a:xfrm>
          <a:prstGeom prst="rect">
            <a:avLst/>
          </a:prstGeom>
        </p:spPr>
      </p:pic>
      <p:pic>
        <p:nvPicPr>
          <p:cNvPr id="19" name="Graphic 18" descr="Man with solid fill">
            <a:extLst>
              <a:ext uri="{FF2B5EF4-FFF2-40B4-BE49-F238E27FC236}">
                <a16:creationId xmlns:a16="http://schemas.microsoft.com/office/drawing/2014/main" id="{6CF691F3-63ED-1F34-1E2B-3E4E45077F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08315" y="4602759"/>
            <a:ext cx="707409" cy="707409"/>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E5F2F1-8C49-C1C0-DBE2-87002BDD60FF}"/>
                  </a:ext>
                </a:extLst>
              </p:cNvPr>
              <p:cNvSpPr txBox="1"/>
              <p:nvPr/>
            </p:nvSpPr>
            <p:spPr>
              <a:xfrm>
                <a:off x="9354249" y="5222413"/>
                <a:ext cx="231717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365</m:t>
                      </m:r>
                    </m:oMath>
                  </m:oMathPara>
                </a14:m>
                <a:endParaRPr lang="en-US" sz="3600" dirty="0"/>
              </a:p>
            </p:txBody>
          </p:sp>
        </mc:Choice>
        <mc:Fallback xmlns="">
          <p:sp>
            <p:nvSpPr>
              <p:cNvPr id="2" name="TextBox 1">
                <a:extLst>
                  <a:ext uri="{FF2B5EF4-FFF2-40B4-BE49-F238E27FC236}">
                    <a16:creationId xmlns:a16="http://schemas.microsoft.com/office/drawing/2014/main" id="{53E5F2F1-8C49-C1C0-DBE2-87002BDD60FF}"/>
                  </a:ext>
                </a:extLst>
              </p:cNvPr>
              <p:cNvSpPr txBox="1">
                <a:spLocks noRot="1" noChangeAspect="1" noMove="1" noResize="1" noEditPoints="1" noAdjustHandles="1" noChangeArrowheads="1" noChangeShapeType="1" noTextEdit="1"/>
              </p:cNvSpPr>
              <p:nvPr/>
            </p:nvSpPr>
            <p:spPr>
              <a:xfrm>
                <a:off x="9354249" y="5222413"/>
                <a:ext cx="2317173" cy="646331"/>
              </a:xfrm>
              <a:prstGeom prst="rect">
                <a:avLst/>
              </a:prstGeom>
              <a:blipFill>
                <a:blip r:embed="rId8"/>
                <a:stretch>
                  <a:fillRect/>
                </a:stretch>
              </a:blipFill>
            </p:spPr>
            <p:txBody>
              <a:bodyPr/>
              <a:lstStyle/>
              <a:p>
                <a:r>
                  <a:rPr lang="en-US">
                    <a:noFill/>
                  </a:rPr>
                  <a:t> </a:t>
                </a:r>
              </a:p>
            </p:txBody>
          </p:sp>
        </mc:Fallback>
      </mc:AlternateContent>
      <p:pic>
        <p:nvPicPr>
          <p:cNvPr id="4" name="Graphic 3" descr="Arrow circle with solid fill">
            <a:extLst>
              <a:ext uri="{FF2B5EF4-FFF2-40B4-BE49-F238E27FC236}">
                <a16:creationId xmlns:a16="http://schemas.microsoft.com/office/drawing/2014/main" id="{2057D7ED-FE68-799F-F922-60EB595F1D0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091367" y="4247131"/>
            <a:ext cx="975282" cy="975282"/>
          </a:xfrm>
          <a:prstGeom prst="rect">
            <a:avLst/>
          </a:prstGeom>
        </p:spPr>
      </p:pic>
      <p:sp>
        <p:nvSpPr>
          <p:cNvPr id="5" name="TextBox 4">
            <a:extLst>
              <a:ext uri="{FF2B5EF4-FFF2-40B4-BE49-F238E27FC236}">
                <a16:creationId xmlns:a16="http://schemas.microsoft.com/office/drawing/2014/main" id="{4B87616E-A518-14B1-705D-8B81BA7139A7}"/>
              </a:ext>
            </a:extLst>
          </p:cNvPr>
          <p:cNvSpPr txBox="1"/>
          <p:nvPr/>
        </p:nvSpPr>
        <p:spPr>
          <a:xfrm>
            <a:off x="5637068" y="2971800"/>
            <a:ext cx="65" cy="276999"/>
          </a:xfrm>
          <a:prstGeom prst="rect">
            <a:avLst/>
          </a:prstGeom>
          <a:noFill/>
        </p:spPr>
        <p:txBody>
          <a:bodyPr wrap="none" lIns="0" tIns="0" rIns="0" bIns="0" rtlCol="0">
            <a:spAutoFit/>
          </a:bodyPr>
          <a:lstStyle/>
          <a:p>
            <a:endParaRPr lang="en-US" dirty="0"/>
          </a:p>
        </p:txBody>
      </p:sp>
      <p:pic>
        <p:nvPicPr>
          <p:cNvPr id="3" name="Graphic 2" descr="Thought outline">
            <a:extLst>
              <a:ext uri="{FF2B5EF4-FFF2-40B4-BE49-F238E27FC236}">
                <a16:creationId xmlns:a16="http://schemas.microsoft.com/office/drawing/2014/main" id="{ED1E5740-40EF-206F-4D2C-1E8F1B61E2C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45683" y="651465"/>
            <a:ext cx="1958259" cy="1958259"/>
          </a:xfrm>
          <a:prstGeom prst="rect">
            <a:avLst/>
          </a:prstGeom>
        </p:spPr>
      </p:pic>
      <p:pic>
        <p:nvPicPr>
          <p:cNvPr id="6" name="Picture 5" descr="A black background with a black square&#10;&#10;Description automatically generated with medium confidence">
            <a:extLst>
              <a:ext uri="{FF2B5EF4-FFF2-40B4-BE49-F238E27FC236}">
                <a16:creationId xmlns:a16="http://schemas.microsoft.com/office/drawing/2014/main" id="{847734AF-C1D4-A7F1-787B-A84508F94FE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898445" y="2922622"/>
            <a:ext cx="1391297" cy="1391297"/>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8EF27900-15D8-9E1B-8D8C-380C369064B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789015" y="997895"/>
            <a:ext cx="547829" cy="547829"/>
          </a:xfrm>
          <a:prstGeom prst="rect">
            <a:avLst/>
          </a:prstGeom>
        </p:spPr>
      </p:pic>
      <p:pic>
        <p:nvPicPr>
          <p:cNvPr id="8" name="Picture 7" descr="A black background with a black square&#10;&#10;Description automatically generated with medium confidence">
            <a:extLst>
              <a:ext uri="{FF2B5EF4-FFF2-40B4-BE49-F238E27FC236}">
                <a16:creationId xmlns:a16="http://schemas.microsoft.com/office/drawing/2014/main" id="{4513C042-05BC-07CA-EC6E-E507E77ADC2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963336" y="2815170"/>
            <a:ext cx="590257" cy="590257"/>
          </a:xfrm>
          <a:prstGeom prst="rect">
            <a:avLst/>
          </a:prstGeom>
        </p:spPr>
      </p:pic>
    </p:spTree>
    <p:extLst>
      <p:ext uri="{BB962C8B-B14F-4D97-AF65-F5344CB8AC3E}">
        <p14:creationId xmlns:p14="http://schemas.microsoft.com/office/powerpoint/2010/main" val="3321166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4094EBB-9646-8662-96E9-56455DDE8C87}"/>
              </a:ext>
            </a:extLst>
          </p:cNvPr>
          <p:cNvGrpSpPr/>
          <p:nvPr/>
        </p:nvGrpSpPr>
        <p:grpSpPr>
          <a:xfrm>
            <a:off x="6654998" y="955963"/>
            <a:ext cx="4563720" cy="4550779"/>
            <a:chOff x="7676771" y="1690688"/>
            <a:chExt cx="4016657" cy="4016657"/>
          </a:xfrm>
        </p:grpSpPr>
        <p:pic>
          <p:nvPicPr>
            <p:cNvPr id="10" name="Graphic 9" descr="Arrow circle with solid fill">
              <a:extLst>
                <a:ext uri="{FF2B5EF4-FFF2-40B4-BE49-F238E27FC236}">
                  <a16:creationId xmlns:a16="http://schemas.microsoft.com/office/drawing/2014/main" id="{999C0CDD-2A82-A54B-0EF6-6C7E19409D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6771" y="1690688"/>
              <a:ext cx="4016657" cy="4016657"/>
            </a:xfrm>
            <a:prstGeom prst="rect">
              <a:avLst/>
            </a:prstGeom>
          </p:spPr>
        </p:pic>
        <p:pic>
          <p:nvPicPr>
            <p:cNvPr id="5" name="Graphic 4" descr="Fish with solid fill">
              <a:extLst>
                <a:ext uri="{FF2B5EF4-FFF2-40B4-BE49-F238E27FC236}">
                  <a16:creationId xmlns:a16="http://schemas.microsoft.com/office/drawing/2014/main" id="{22F40A4A-6E63-0E48-5D3B-70A7BA1651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59921" y="2568933"/>
              <a:ext cx="1305196" cy="1305196"/>
            </a:xfrm>
            <a:prstGeom prst="rect">
              <a:avLst/>
            </a:prstGeom>
          </p:spPr>
        </p:pic>
        <p:pic>
          <p:nvPicPr>
            <p:cNvPr id="6" name="Graphic 5" descr="Fish with solid fill">
              <a:extLst>
                <a:ext uri="{FF2B5EF4-FFF2-40B4-BE49-F238E27FC236}">
                  <a16:creationId xmlns:a16="http://schemas.microsoft.com/office/drawing/2014/main" id="{234E1AD0-B8B6-9237-76E2-5BA1B9E90E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4430" y="3951275"/>
              <a:ext cx="767241" cy="767241"/>
            </a:xfrm>
            <a:prstGeom prst="rect">
              <a:avLst/>
            </a:prstGeom>
          </p:spPr>
        </p:pic>
        <p:pic>
          <p:nvPicPr>
            <p:cNvPr id="7" name="Graphic 6" descr="Fish with solid fill">
              <a:extLst>
                <a:ext uri="{FF2B5EF4-FFF2-40B4-BE49-F238E27FC236}">
                  <a16:creationId xmlns:a16="http://schemas.microsoft.com/office/drawing/2014/main" id="{3437EFA1-A994-A6A7-F476-4F59EC36F18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10918" y="3260104"/>
              <a:ext cx="1007323" cy="1007323"/>
            </a:xfrm>
            <a:prstGeom prst="rect">
              <a:avLst/>
            </a:prstGeom>
          </p:spPr>
        </p:pic>
        <p:pic>
          <p:nvPicPr>
            <p:cNvPr id="8" name="Graphic 7" descr="Fish with solid fill">
              <a:extLst>
                <a:ext uri="{FF2B5EF4-FFF2-40B4-BE49-F238E27FC236}">
                  <a16:creationId xmlns:a16="http://schemas.microsoft.com/office/drawing/2014/main" id="{C1BED0D4-8242-7FF5-A1E0-0D0D752815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28098" y="2687338"/>
              <a:ext cx="820286" cy="820286"/>
            </a:xfrm>
            <a:prstGeom prst="rect">
              <a:avLst/>
            </a:prstGeom>
          </p:spPr>
        </p:pic>
        <p:pic>
          <p:nvPicPr>
            <p:cNvPr id="9" name="Graphic 8" descr="Fish with solid fill">
              <a:extLst>
                <a:ext uri="{FF2B5EF4-FFF2-40B4-BE49-F238E27FC236}">
                  <a16:creationId xmlns:a16="http://schemas.microsoft.com/office/drawing/2014/main" id="{6CFCD092-AB32-FD65-A7D9-CB62D053F0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78159" y="3988690"/>
              <a:ext cx="1126135" cy="1126135"/>
            </a:xfrm>
            <a:prstGeom prst="rect">
              <a:avLst/>
            </a:prstGeom>
          </p:spPr>
        </p:pic>
      </p:grpSp>
      <p:sp>
        <p:nvSpPr>
          <p:cNvPr id="12" name="Title 11">
            <a:extLst>
              <a:ext uri="{FF2B5EF4-FFF2-40B4-BE49-F238E27FC236}">
                <a16:creationId xmlns:a16="http://schemas.microsoft.com/office/drawing/2014/main" id="{15F7735A-27DC-9455-21E0-AFAFD17E8AE8}"/>
              </a:ext>
            </a:extLst>
          </p:cNvPr>
          <p:cNvSpPr>
            <a:spLocks noGrp="1"/>
          </p:cNvSpPr>
          <p:nvPr>
            <p:ph type="title"/>
          </p:nvPr>
        </p:nvSpPr>
        <p:spPr/>
        <p:txBody>
          <a:bodyPr/>
          <a:lstStyle/>
          <a:p>
            <a:r>
              <a:rPr lang="en-US" dirty="0"/>
              <a:t>Each annual loop:</a:t>
            </a:r>
          </a:p>
        </p:txBody>
      </p:sp>
      <mc:AlternateContent xmlns:mc="http://schemas.openxmlformats.org/markup-compatibility/2006">
        <mc:Choice xmlns:a14="http://schemas.microsoft.com/office/drawing/2010/main" Requires="a14">
          <p:sp>
            <p:nvSpPr>
              <p:cNvPr id="18" name="Content Placeholder 17">
                <a:extLst>
                  <a:ext uri="{FF2B5EF4-FFF2-40B4-BE49-F238E27FC236}">
                    <a16:creationId xmlns:a16="http://schemas.microsoft.com/office/drawing/2014/main" id="{2FE717E4-FC4C-C1C9-4DCE-50E7C86CF69C}"/>
                  </a:ext>
                </a:extLst>
              </p:cNvPr>
              <p:cNvSpPr>
                <a:spLocks noGrp="1"/>
              </p:cNvSpPr>
              <p:nvPr>
                <p:ph idx="1"/>
              </p:nvPr>
            </p:nvSpPr>
            <p:spPr>
              <a:xfrm>
                <a:off x="838200" y="1825625"/>
                <a:ext cx="6247680" cy="4351338"/>
              </a:xfrm>
            </p:spPr>
            <p:txBody>
              <a:bodyPr>
                <a:normAutofit fontScale="92500" lnSpcReduction="10000"/>
              </a:bodyPr>
              <a:lstStyle/>
              <a:p>
                <a:r>
                  <a:rPr lang="en-US" dirty="0"/>
                  <a:t>Natural mortality</a:t>
                </a:r>
              </a:p>
              <a:p>
                <a:pPr marL="0" indent="0">
                  <a:buNone/>
                </a:pPr>
                <a14:m>
                  <m:oMath xmlns:m="http://schemas.openxmlformats.org/officeDocument/2006/math">
                    <m:r>
                      <a:rPr lang="en-US" sz="2200" b="0" i="1" smtClean="0">
                        <a:latin typeface="Cambria Math" panose="02040503050406030204" pitchFamily="18" charset="0"/>
                      </a:rPr>
                      <m:t>𝑀</m:t>
                    </m:r>
                    <m:r>
                      <a:rPr lang="en-US" sz="2200" b="0" i="1" smtClean="0">
                        <a:latin typeface="Cambria Math" panose="02040503050406030204" pitchFamily="18" charset="0"/>
                      </a:rPr>
                      <m:t>=0.7 ∗</m:t>
                    </m:r>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⁡(−0.114 ∗</m:t>
                    </m:r>
                    <m:r>
                      <a:rPr lang="en-US" sz="2200" b="0" i="1" smtClean="0">
                        <a:latin typeface="Cambria Math" panose="02040503050406030204" pitchFamily="18" charset="0"/>
                      </a:rPr>
                      <m:t>𝐴𝑔𝑒</m:t>
                    </m:r>
                    <m:r>
                      <a:rPr lang="en-US" sz="2200" b="0" i="1" smtClean="0">
                        <a:latin typeface="Cambria Math" panose="02040503050406030204" pitchFamily="18" charset="0"/>
                      </a:rPr>
                      <m:t>)</m:t>
                    </m:r>
                  </m:oMath>
                </a14:m>
                <a:r>
                  <a:rPr lang="en-US" sz="2200" dirty="0"/>
                  <a:t>         Tsehaye et al 2016</a:t>
                </a:r>
              </a:p>
              <a:p>
                <a:pPr marL="0" indent="0">
                  <a:buNone/>
                </a:pPr>
                <a:r>
                  <a:rPr lang="en-US" dirty="0"/>
                  <a:t>	</a:t>
                </a:r>
                <a:endParaRPr lang="en-US" sz="2200" i="1" dirty="0"/>
              </a:p>
              <a:p>
                <a:r>
                  <a:rPr lang="en-US" dirty="0"/>
                  <a:t>Growth</a:t>
                </a:r>
              </a:p>
              <a:p>
                <a:pPr marL="0" indent="0">
                  <a:buNone/>
                </a:pPr>
                <a:endParaRPr lang="en-US" dirty="0"/>
              </a:p>
              <a:p>
                <a:pPr marL="0" indent="0">
                  <a:buNone/>
                </a:pPr>
                <a:r>
                  <a:rPr lang="en-US" sz="2800" dirty="0"/>
                  <a:t>	</a:t>
                </a:r>
                <a:r>
                  <a:rPr lang="en-US" sz="2000" dirty="0" err="1"/>
                  <a:t>Rypel</a:t>
                </a:r>
                <a:r>
                  <a:rPr lang="en-US" sz="2000" dirty="0"/>
                  <a:t> et al 2018 </a:t>
                </a:r>
                <a:r>
                  <a:rPr lang="en-US" sz="2000" i="1" dirty="0"/>
                  <a:t>Fisheries</a:t>
                </a:r>
                <a:endParaRPr lang="en-US" dirty="0"/>
              </a:p>
              <a:p>
                <a:r>
                  <a:rPr lang="en-US" dirty="0"/>
                  <a:t>Recruitment</a:t>
                </a:r>
              </a:p>
              <a:p>
                <a:pPr marL="0" indent="0">
                  <a:buNone/>
                </a:pPr>
                <a:endParaRPr lang="en-US" dirty="0"/>
              </a:p>
              <a:p>
                <a:pPr marL="0" indent="0">
                  <a:buNone/>
                </a:pPr>
                <a:endParaRPr lang="en-US" dirty="0"/>
              </a:p>
              <a:p>
                <a:pPr marL="0" indent="0">
                  <a:buNone/>
                </a:pPr>
                <a:r>
                  <a:rPr lang="en-US" sz="2000" dirty="0"/>
                  <a:t>	</a:t>
                </a:r>
                <a:r>
                  <a:rPr lang="en-US" sz="2000" dirty="0" err="1"/>
                  <a:t>Tsehaye</a:t>
                </a:r>
                <a:r>
                  <a:rPr lang="en-US" sz="2000" dirty="0"/>
                  <a:t> et al 2016 </a:t>
                </a:r>
                <a:r>
                  <a:rPr lang="en-US" sz="2000" i="1" dirty="0"/>
                  <a:t>CJFAS</a:t>
                </a:r>
                <a:endParaRPr lang="en-US" sz="2000" dirty="0"/>
              </a:p>
              <a:p>
                <a:pPr marL="0" indent="0">
                  <a:buNone/>
                </a:pPr>
                <a:endParaRPr lang="en-US" dirty="0"/>
              </a:p>
            </p:txBody>
          </p:sp>
        </mc:Choice>
        <mc:Fallback>
          <p:sp>
            <p:nvSpPr>
              <p:cNvPr id="18" name="Content Placeholder 17">
                <a:extLst>
                  <a:ext uri="{FF2B5EF4-FFF2-40B4-BE49-F238E27FC236}">
                    <a16:creationId xmlns:a16="http://schemas.microsoft.com/office/drawing/2014/main" id="{2FE717E4-FC4C-C1C9-4DCE-50E7C86CF69C}"/>
                  </a:ext>
                </a:extLst>
              </p:cNvPr>
              <p:cNvSpPr>
                <a:spLocks noGrp="1" noRot="1" noChangeAspect="1" noMove="1" noResize="1" noEditPoints="1" noAdjustHandles="1" noChangeArrowheads="1" noChangeShapeType="1" noTextEdit="1"/>
              </p:cNvSpPr>
              <p:nvPr>
                <p:ph idx="1"/>
              </p:nvPr>
            </p:nvSpPr>
            <p:spPr>
              <a:xfrm>
                <a:off x="838200" y="1825625"/>
                <a:ext cx="6247680" cy="4351338"/>
              </a:xfrm>
              <a:blipFill>
                <a:blip r:embed="rId7"/>
                <a:stretch>
                  <a:fillRect l="-1563" t="-2801" b="-1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2E9951-9472-68C1-75E0-C30DA3389086}"/>
                  </a:ext>
                </a:extLst>
              </p:cNvPr>
              <p:cNvSpPr txBox="1"/>
              <p:nvPr/>
            </p:nvSpPr>
            <p:spPr>
              <a:xfrm>
                <a:off x="1221877" y="3579868"/>
                <a:ext cx="3022046" cy="4228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𝑖𝑛𝑓</m:t>
                          </m:r>
                        </m:sub>
                      </m:sSub>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𝑎𝑔𝑒</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0)</m:t>
                          </m:r>
                        </m:sup>
                      </m:sSup>
                    </m:oMath>
                  </m:oMathPara>
                </a14:m>
                <a:endParaRPr lang="en-US" sz="2400" dirty="0"/>
              </a:p>
            </p:txBody>
          </p:sp>
        </mc:Choice>
        <mc:Fallback xmlns="">
          <p:sp>
            <p:nvSpPr>
              <p:cNvPr id="20" name="TextBox 19">
                <a:extLst>
                  <a:ext uri="{FF2B5EF4-FFF2-40B4-BE49-F238E27FC236}">
                    <a16:creationId xmlns:a16="http://schemas.microsoft.com/office/drawing/2014/main" id="{082E9951-9472-68C1-75E0-C30DA3389086}"/>
                  </a:ext>
                </a:extLst>
              </p:cNvPr>
              <p:cNvSpPr txBox="1">
                <a:spLocks noRot="1" noChangeAspect="1" noMove="1" noResize="1" noEditPoints="1" noAdjustHandles="1" noChangeArrowheads="1" noChangeShapeType="1" noTextEdit="1"/>
              </p:cNvSpPr>
              <p:nvPr/>
            </p:nvSpPr>
            <p:spPr>
              <a:xfrm>
                <a:off x="1221877" y="3579868"/>
                <a:ext cx="3022046" cy="42280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337E83F-14E7-89E2-3F75-895313AA15BC}"/>
                  </a:ext>
                </a:extLst>
              </p:cNvPr>
              <p:cNvSpPr txBox="1"/>
              <p:nvPr/>
            </p:nvSpPr>
            <p:spPr>
              <a:xfrm>
                <a:off x="1221877" y="4925954"/>
                <a:ext cx="2162772" cy="386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𝑅</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𝑆</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𝛽</m:t>
                          </m:r>
                        </m:sup>
                      </m:sSup>
                      <m:r>
                        <a:rPr lang="en-US" sz="2400" i="1" smtClean="0">
                          <a:solidFill>
                            <a:schemeClr val="bg2">
                              <a:lumMod val="75000"/>
                            </a:schemeClr>
                          </a:solidFill>
                          <a:latin typeface="Cambria Math" panose="02040503050406030204" pitchFamily="18" charset="0"/>
                          <a:ea typeface="Cambria Math" panose="02040503050406030204" pitchFamily="18" charset="0"/>
                        </a:rPr>
                        <m:t>×</m:t>
                      </m:r>
                      <m:sSup>
                        <m:sSupPr>
                          <m:ctrlPr>
                            <a:rPr lang="en-US" sz="2400" b="0" i="1" smtClean="0">
                              <a:solidFill>
                                <a:schemeClr val="bg2">
                                  <a:lumMod val="75000"/>
                                </a:schemeClr>
                              </a:solidFill>
                              <a:latin typeface="Cambria Math" panose="02040503050406030204" pitchFamily="18" charset="0"/>
                              <a:ea typeface="Cambria Math" panose="02040503050406030204" pitchFamily="18" charset="0"/>
                            </a:rPr>
                          </m:ctrlPr>
                        </m:sSupPr>
                        <m:e>
                          <m:r>
                            <a:rPr lang="en-US" sz="2400" b="0" i="1" smtClean="0">
                              <a:solidFill>
                                <a:schemeClr val="bg2">
                                  <a:lumMod val="75000"/>
                                </a:schemeClr>
                              </a:solidFill>
                              <a:latin typeface="Cambria Math" panose="02040503050406030204" pitchFamily="18" charset="0"/>
                              <a:ea typeface="Cambria Math" panose="02040503050406030204" pitchFamily="18" charset="0"/>
                            </a:rPr>
                            <m:t>𝑒</m:t>
                          </m:r>
                        </m:e>
                        <m:sup>
                          <m:r>
                            <a:rPr lang="en-US" sz="2400" b="0" i="1" smtClean="0">
                              <a:solidFill>
                                <a:schemeClr val="bg2">
                                  <a:lumMod val="75000"/>
                                </a:schemeClr>
                              </a:solidFill>
                              <a:latin typeface="Cambria Math" panose="02040503050406030204" pitchFamily="18" charset="0"/>
                              <a:ea typeface="Cambria Math" panose="02040503050406030204" pitchFamily="18" charset="0"/>
                            </a:rPr>
                            <m:t>𝜔</m:t>
                          </m:r>
                        </m:sup>
                      </m:sSup>
                    </m:oMath>
                  </m:oMathPara>
                </a14:m>
                <a:endParaRPr lang="en-US" sz="2400" dirty="0"/>
              </a:p>
            </p:txBody>
          </p:sp>
        </mc:Choice>
        <mc:Fallback xmlns="">
          <p:sp>
            <p:nvSpPr>
              <p:cNvPr id="55" name="TextBox 54">
                <a:extLst>
                  <a:ext uri="{FF2B5EF4-FFF2-40B4-BE49-F238E27FC236}">
                    <a16:creationId xmlns:a16="http://schemas.microsoft.com/office/drawing/2014/main" id="{4337E83F-14E7-89E2-3F75-895313AA15BC}"/>
                  </a:ext>
                </a:extLst>
              </p:cNvPr>
              <p:cNvSpPr txBox="1">
                <a:spLocks noRot="1" noChangeAspect="1" noMove="1" noResize="1" noEditPoints="1" noAdjustHandles="1" noChangeArrowheads="1" noChangeShapeType="1" noTextEdit="1"/>
              </p:cNvSpPr>
              <p:nvPr/>
            </p:nvSpPr>
            <p:spPr>
              <a:xfrm>
                <a:off x="1221877" y="4925954"/>
                <a:ext cx="2162772" cy="386644"/>
              </a:xfrm>
              <a:prstGeom prst="rect">
                <a:avLst/>
              </a:prstGeom>
              <a:blipFill>
                <a:blip r:embed="rId9"/>
                <a:stretch>
                  <a:fillRect l="-2817" t="-4762" b="-79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3F94AAA-E95C-E712-FCE2-5882392EC27A}"/>
                  </a:ext>
                </a:extLst>
              </p:cNvPr>
              <p:cNvSpPr txBox="1"/>
              <p:nvPr/>
            </p:nvSpPr>
            <p:spPr>
              <a:xfrm>
                <a:off x="1752664" y="5322076"/>
                <a:ext cx="16319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bg1">
                              <a:lumMod val="65000"/>
                            </a:schemeClr>
                          </a:solidFill>
                          <a:latin typeface="Cambria Math" panose="02040503050406030204" pitchFamily="18" charset="0"/>
                          <a:ea typeface="Cambria Math" panose="02040503050406030204" pitchFamily="18" charset="0"/>
                        </a:rPr>
                        <m:t>𝜔</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r>
                        <a:rPr lang="en-US" sz="2400" b="0" i="1" smtClean="0">
                          <a:solidFill>
                            <a:schemeClr val="bg1">
                              <a:lumMod val="65000"/>
                            </a:schemeClr>
                          </a:solidFill>
                          <a:latin typeface="Cambria Math" panose="02040503050406030204" pitchFamily="18" charset="0"/>
                          <a:ea typeface="Cambria Math" panose="02040503050406030204" pitchFamily="18" charset="0"/>
                        </a:rPr>
                        <m:t>𝑁</m:t>
                      </m:r>
                      <m:r>
                        <a:rPr lang="en-US" sz="2400" b="0" i="1" smtClean="0">
                          <a:solidFill>
                            <a:schemeClr val="bg1">
                              <a:lumMod val="65000"/>
                            </a:schemeClr>
                          </a:solidFill>
                          <a:latin typeface="Cambria Math" panose="02040503050406030204" pitchFamily="18" charset="0"/>
                          <a:ea typeface="Cambria Math" panose="02040503050406030204" pitchFamily="18" charset="0"/>
                        </a:rPr>
                        <m:t>(0,</m:t>
                      </m:r>
                      <m:sSup>
                        <m:sSupPr>
                          <m:ctrlPr>
                            <a:rPr lang="en-US" sz="2400" i="1" smtClean="0">
                              <a:solidFill>
                                <a:schemeClr val="bg1">
                                  <a:lumMod val="65000"/>
                                </a:schemeClr>
                              </a:solidFill>
                              <a:latin typeface="Cambria Math" panose="02040503050406030204" pitchFamily="18" charset="0"/>
                            </a:rPr>
                          </m:ctrlPr>
                        </m:sSupPr>
                        <m:e>
                          <m:r>
                            <a:rPr lang="en-US" sz="2400" i="1" smtClean="0">
                              <a:solidFill>
                                <a:schemeClr val="bg1">
                                  <a:lumMod val="65000"/>
                                </a:schemeClr>
                              </a:solidFill>
                              <a:latin typeface="Cambria Math" panose="02040503050406030204" pitchFamily="18" charset="0"/>
                              <a:ea typeface="Cambria Math" panose="02040503050406030204" pitchFamily="18" charset="0"/>
                            </a:rPr>
                            <m:t>𝜎</m:t>
                          </m:r>
                        </m:e>
                        <m:sup>
                          <m:r>
                            <a:rPr lang="en-US" sz="2400" b="0" i="1" smtClean="0">
                              <a:solidFill>
                                <a:schemeClr val="bg1">
                                  <a:lumMod val="65000"/>
                                </a:schemeClr>
                              </a:solidFill>
                              <a:latin typeface="Cambria Math" panose="02040503050406030204" pitchFamily="18" charset="0"/>
                            </a:rPr>
                            <m:t>2</m:t>
                          </m:r>
                        </m:sup>
                      </m:sSup>
                      <m:r>
                        <a:rPr lang="en-US" sz="2400" b="0" i="1" smtClean="0">
                          <a:solidFill>
                            <a:schemeClr val="bg1">
                              <a:lumMod val="65000"/>
                            </a:schemeClr>
                          </a:solidFill>
                          <a:latin typeface="Cambria Math" panose="02040503050406030204" pitchFamily="18" charset="0"/>
                        </a:rPr>
                        <m:t>)</m:t>
                      </m:r>
                    </m:oMath>
                  </m:oMathPara>
                </a14:m>
                <a:endParaRPr lang="en-US" sz="2400" dirty="0">
                  <a:solidFill>
                    <a:schemeClr val="bg1">
                      <a:lumMod val="65000"/>
                    </a:schemeClr>
                  </a:solidFill>
                </a:endParaRPr>
              </a:p>
            </p:txBody>
          </p:sp>
        </mc:Choice>
        <mc:Fallback xmlns="">
          <p:sp>
            <p:nvSpPr>
              <p:cNvPr id="56" name="TextBox 55">
                <a:extLst>
                  <a:ext uri="{FF2B5EF4-FFF2-40B4-BE49-F238E27FC236}">
                    <a16:creationId xmlns:a16="http://schemas.microsoft.com/office/drawing/2014/main" id="{23F94AAA-E95C-E712-FCE2-5882392EC27A}"/>
                  </a:ext>
                </a:extLst>
              </p:cNvPr>
              <p:cNvSpPr txBox="1">
                <a:spLocks noRot="1" noChangeAspect="1" noMove="1" noResize="1" noEditPoints="1" noAdjustHandles="1" noChangeArrowheads="1" noChangeShapeType="1" noTextEdit="1"/>
              </p:cNvSpPr>
              <p:nvPr/>
            </p:nvSpPr>
            <p:spPr>
              <a:xfrm>
                <a:off x="1752664" y="5322076"/>
                <a:ext cx="1631985" cy="369332"/>
              </a:xfrm>
              <a:prstGeom prst="rect">
                <a:avLst/>
              </a:prstGeom>
              <a:blipFill>
                <a:blip r:embed="rId10"/>
                <a:stretch>
                  <a:fillRect l="-2247" r="-6367" b="-344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5F1383D-BD4E-6B56-A035-6259CCECFBA7}"/>
                  </a:ext>
                </a:extLst>
              </p:cNvPr>
              <p:cNvSpPr txBox="1"/>
              <p:nvPr/>
            </p:nvSpPr>
            <p:spPr>
              <a:xfrm>
                <a:off x="901229" y="2546945"/>
                <a:ext cx="3495701" cy="4675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𝑀</m:t>
                          </m:r>
                        </m:e>
                        <m:sub>
                          <m:r>
                            <a:rPr lang="en-US" sz="1600" b="0" i="1" smtClean="0">
                              <a:latin typeface="Cambria Math" panose="02040503050406030204" pitchFamily="18" charset="0"/>
                            </a:rPr>
                            <m:t>𝑎𝑑𝑗</m:t>
                          </m:r>
                        </m:sub>
                      </m:sSub>
                      <m:r>
                        <a:rPr lang="en-US" sz="1600" b="0" i="1" smtClean="0">
                          <a:latin typeface="Cambria Math" panose="02040503050406030204" pitchFamily="18" charset="0"/>
                        </a:rPr>
                        <m:t>=0.7−0.92</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𝑁</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h𝑎𝑟𝑣𝑒𝑠𝑡</m:t>
                          </m:r>
                        </m:num>
                        <m:den>
                          <m:r>
                            <a:rPr lang="en-US" sz="1600" b="0" i="1" smtClean="0">
                              <a:latin typeface="Cambria Math" panose="02040503050406030204" pitchFamily="18" charset="0"/>
                              <a:ea typeface="Cambria Math" panose="02040503050406030204" pitchFamily="18" charset="0"/>
                            </a:rPr>
                            <m:t>𝑁</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𝑣𝑢𝑙𝑛𝑒𝑟𝑎𝑏𝑙𝑒</m:t>
                          </m:r>
                        </m:den>
                      </m:f>
                      <m:r>
                        <a:rPr lang="en-US" sz="1600" dirty="0">
                          <a:latin typeface="Cambria Math" panose="02040503050406030204" pitchFamily="18" charset="0"/>
                        </a:rPr>
                        <m:t>×</m:t>
                      </m:r>
                      <m:r>
                        <m:rPr>
                          <m:sty m:val="p"/>
                        </m:rPr>
                        <a:rPr lang="en-US" sz="1600" b="0" i="0" dirty="0" smtClean="0">
                          <a:latin typeface="Cambria Math" panose="02040503050406030204" pitchFamily="18" charset="0"/>
                        </a:rPr>
                        <m:t>M</m:t>
                      </m:r>
                    </m:oMath>
                  </m:oMathPara>
                </a14:m>
                <a:endParaRPr lang="en-US" sz="1600" dirty="0"/>
              </a:p>
            </p:txBody>
          </p:sp>
        </mc:Choice>
        <mc:Fallback>
          <p:sp>
            <p:nvSpPr>
              <p:cNvPr id="2" name="TextBox 1">
                <a:extLst>
                  <a:ext uri="{FF2B5EF4-FFF2-40B4-BE49-F238E27FC236}">
                    <a16:creationId xmlns:a16="http://schemas.microsoft.com/office/drawing/2014/main" id="{15F1383D-BD4E-6B56-A035-6259CCECFBA7}"/>
                  </a:ext>
                </a:extLst>
              </p:cNvPr>
              <p:cNvSpPr txBox="1">
                <a:spLocks noRot="1" noChangeAspect="1" noMove="1" noResize="1" noEditPoints="1" noAdjustHandles="1" noChangeArrowheads="1" noChangeShapeType="1" noTextEdit="1"/>
              </p:cNvSpPr>
              <p:nvPr/>
            </p:nvSpPr>
            <p:spPr>
              <a:xfrm>
                <a:off x="901229" y="2546945"/>
                <a:ext cx="3495701" cy="467564"/>
              </a:xfrm>
              <a:prstGeom prst="rect">
                <a:avLst/>
              </a:prstGeom>
              <a:blipFill>
                <a:blip r:embed="rId11"/>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7088F420-EBB0-F500-AE2E-F73B90192643}"/>
              </a:ext>
            </a:extLst>
          </p:cNvPr>
          <p:cNvSpPr txBox="1"/>
          <p:nvPr/>
        </p:nvSpPr>
        <p:spPr>
          <a:xfrm>
            <a:off x="4733366" y="2645177"/>
            <a:ext cx="2999227" cy="369332"/>
          </a:xfrm>
          <a:prstGeom prst="rect">
            <a:avLst/>
          </a:prstGeom>
          <a:noFill/>
        </p:spPr>
        <p:txBody>
          <a:bodyPr wrap="square" rtlCol="0">
            <a:spAutoFit/>
          </a:bodyPr>
          <a:lstStyle/>
          <a:p>
            <a:r>
              <a:rPr lang="en-US" dirty="0"/>
              <a:t>M. Hansen et al 2011</a:t>
            </a:r>
          </a:p>
        </p:txBody>
      </p:sp>
    </p:spTree>
    <p:extLst>
      <p:ext uri="{BB962C8B-B14F-4D97-AF65-F5344CB8AC3E}">
        <p14:creationId xmlns:p14="http://schemas.microsoft.com/office/powerpoint/2010/main" val="376843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5D31-04BE-F20C-D34D-3056B6A2C0E6}"/>
              </a:ext>
            </a:extLst>
          </p:cNvPr>
          <p:cNvSpPr>
            <a:spLocks noGrp="1"/>
          </p:cNvSpPr>
          <p:nvPr>
            <p:ph type="title"/>
          </p:nvPr>
        </p:nvSpPr>
        <p:spPr/>
        <p:txBody>
          <a:bodyPr/>
          <a:lstStyle/>
          <a:p>
            <a:endParaRPr lang="en-US"/>
          </a:p>
        </p:txBody>
      </p:sp>
      <p:pic>
        <p:nvPicPr>
          <p:cNvPr id="9" name="Content Placeholder 8" descr="A graph of different colored lines&#10;&#10;Description automatically generated">
            <a:extLst>
              <a:ext uri="{FF2B5EF4-FFF2-40B4-BE49-F238E27FC236}">
                <a16:creationId xmlns:a16="http://schemas.microsoft.com/office/drawing/2014/main" id="{08077834-874B-3D0B-81F2-3333B4BE80A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02786" y="282301"/>
            <a:ext cx="9571885" cy="6381258"/>
          </a:xfrm>
        </p:spPr>
      </p:pic>
      <p:sp>
        <p:nvSpPr>
          <p:cNvPr id="3" name="Rectangle 2">
            <a:extLst>
              <a:ext uri="{FF2B5EF4-FFF2-40B4-BE49-F238E27FC236}">
                <a16:creationId xmlns:a16="http://schemas.microsoft.com/office/drawing/2014/main" id="{824BB425-0344-9AA2-DAFA-6B3A47DDDB67}"/>
              </a:ext>
            </a:extLst>
          </p:cNvPr>
          <p:cNvSpPr/>
          <p:nvPr/>
        </p:nvSpPr>
        <p:spPr>
          <a:xfrm rot="16200000">
            <a:off x="7033" y="1558633"/>
            <a:ext cx="2961409" cy="5818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Mean walleye length (cm)</a:t>
            </a:r>
          </a:p>
        </p:txBody>
      </p:sp>
      <p:sp>
        <p:nvSpPr>
          <p:cNvPr id="4" name="Rectangle 3">
            <a:extLst>
              <a:ext uri="{FF2B5EF4-FFF2-40B4-BE49-F238E27FC236}">
                <a16:creationId xmlns:a16="http://schemas.microsoft.com/office/drawing/2014/main" id="{85B073CA-3BC5-CA01-0C53-54D98C61767C}"/>
              </a:ext>
            </a:extLst>
          </p:cNvPr>
          <p:cNvSpPr/>
          <p:nvPr/>
        </p:nvSpPr>
        <p:spPr>
          <a:xfrm rot="16200000">
            <a:off x="10390" y="4764516"/>
            <a:ext cx="2961409" cy="5818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PSD (quality)</a:t>
            </a:r>
          </a:p>
        </p:txBody>
      </p:sp>
      <p:sp>
        <p:nvSpPr>
          <p:cNvPr id="5" name="Rectangle 4">
            <a:extLst>
              <a:ext uri="{FF2B5EF4-FFF2-40B4-BE49-F238E27FC236}">
                <a16:creationId xmlns:a16="http://schemas.microsoft.com/office/drawing/2014/main" id="{69DCABA8-D4A3-FC27-E0AB-4140D8B1567C}"/>
              </a:ext>
            </a:extLst>
          </p:cNvPr>
          <p:cNvSpPr/>
          <p:nvPr/>
        </p:nvSpPr>
        <p:spPr>
          <a:xfrm rot="16200000">
            <a:off x="5068164" y="1657488"/>
            <a:ext cx="2961409" cy="3688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Max walleye length (cm)</a:t>
            </a:r>
          </a:p>
        </p:txBody>
      </p:sp>
    </p:spTree>
    <p:extLst>
      <p:ext uri="{BB962C8B-B14F-4D97-AF65-F5344CB8AC3E}">
        <p14:creationId xmlns:p14="http://schemas.microsoft.com/office/powerpoint/2010/main" val="72645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140F5-3946-4BBC-0247-19242B0FF774}"/>
              </a:ext>
            </a:extLst>
          </p:cNvPr>
          <p:cNvSpPr>
            <a:spLocks noGrp="1"/>
          </p:cNvSpPr>
          <p:nvPr>
            <p:ph type="title"/>
          </p:nvPr>
        </p:nvSpPr>
        <p:spPr/>
        <p:txBody>
          <a:bodyPr/>
          <a:lstStyle/>
          <a:p>
            <a:endParaRPr lang="en-US" dirty="0"/>
          </a:p>
        </p:txBody>
      </p:sp>
      <p:pic>
        <p:nvPicPr>
          <p:cNvPr id="9" name="Content Placeholder 8" descr="A graph of a graph&#10;&#10;Description automatically generated with medium confidence">
            <a:extLst>
              <a:ext uri="{FF2B5EF4-FFF2-40B4-BE49-F238E27FC236}">
                <a16:creationId xmlns:a16="http://schemas.microsoft.com/office/drawing/2014/main" id="{6EBEBDC1-AAC2-76BA-43D8-AAA859104E2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18634" y="365124"/>
            <a:ext cx="8892147" cy="5928099"/>
          </a:xfrm>
        </p:spPr>
      </p:pic>
      <p:sp>
        <p:nvSpPr>
          <p:cNvPr id="3" name="Rectangle 2">
            <a:extLst>
              <a:ext uri="{FF2B5EF4-FFF2-40B4-BE49-F238E27FC236}">
                <a16:creationId xmlns:a16="http://schemas.microsoft.com/office/drawing/2014/main" id="{37763084-818A-8197-3D05-BBC8C20A8F74}"/>
              </a:ext>
            </a:extLst>
          </p:cNvPr>
          <p:cNvSpPr/>
          <p:nvPr/>
        </p:nvSpPr>
        <p:spPr>
          <a:xfrm rot="16200000">
            <a:off x="-171313" y="1511593"/>
            <a:ext cx="2961409" cy="5818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Fishing effort (anglers/year)</a:t>
            </a:r>
          </a:p>
        </p:txBody>
      </p:sp>
      <p:sp>
        <p:nvSpPr>
          <p:cNvPr id="4" name="Rectangle 3">
            <a:extLst>
              <a:ext uri="{FF2B5EF4-FFF2-40B4-BE49-F238E27FC236}">
                <a16:creationId xmlns:a16="http://schemas.microsoft.com/office/drawing/2014/main" id="{E78ACECE-CEAB-0767-7A63-D12291BDE138}"/>
              </a:ext>
            </a:extLst>
          </p:cNvPr>
          <p:cNvSpPr/>
          <p:nvPr/>
        </p:nvSpPr>
        <p:spPr>
          <a:xfrm rot="16200000">
            <a:off x="-153994" y="4564865"/>
            <a:ext cx="2961409" cy="5818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Walleye population (N)</a:t>
            </a:r>
          </a:p>
        </p:txBody>
      </p:sp>
      <p:sp>
        <p:nvSpPr>
          <p:cNvPr id="6" name="Rectangle 5">
            <a:extLst>
              <a:ext uri="{FF2B5EF4-FFF2-40B4-BE49-F238E27FC236}">
                <a16:creationId xmlns:a16="http://schemas.microsoft.com/office/drawing/2014/main" id="{8B875728-088E-1B88-49CB-27F2A54E86BC}"/>
              </a:ext>
            </a:extLst>
          </p:cNvPr>
          <p:cNvSpPr/>
          <p:nvPr/>
        </p:nvSpPr>
        <p:spPr>
          <a:xfrm rot="16200000">
            <a:off x="4429124" y="1581803"/>
            <a:ext cx="2961409" cy="368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Annual harvest (N)</a:t>
            </a:r>
          </a:p>
        </p:txBody>
      </p:sp>
    </p:spTree>
    <p:extLst>
      <p:ext uri="{BB962C8B-B14F-4D97-AF65-F5344CB8AC3E}">
        <p14:creationId xmlns:p14="http://schemas.microsoft.com/office/powerpoint/2010/main" val="3491135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8B246-63D0-8B8A-2A0A-C5E4617BE593}"/>
              </a:ext>
            </a:extLst>
          </p:cNvPr>
          <p:cNvSpPr>
            <a:spLocks noGrp="1"/>
          </p:cNvSpPr>
          <p:nvPr>
            <p:ph type="title"/>
          </p:nvPr>
        </p:nvSpPr>
        <p:spPr/>
        <p:txBody>
          <a:bodyPr/>
          <a:lstStyle/>
          <a:p>
            <a:r>
              <a:rPr lang="en-US" dirty="0"/>
              <a:t>Pattern matching—compare model outputs to observations</a:t>
            </a:r>
          </a:p>
        </p:txBody>
      </p:sp>
      <p:pic>
        <p:nvPicPr>
          <p:cNvPr id="4" name="Content Placeholder 4" descr="A graph with colorful dots and numbers&#10;&#10;Description automatically generated">
            <a:extLst>
              <a:ext uri="{FF2B5EF4-FFF2-40B4-BE49-F238E27FC236}">
                <a16:creationId xmlns:a16="http://schemas.microsoft.com/office/drawing/2014/main" id="{88372BB0-11B0-6CA0-8CF0-17C7DD67E8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118" y="2149438"/>
            <a:ext cx="5486411" cy="3657607"/>
          </a:xfrm>
          <a:prstGeom prst="rect">
            <a:avLst/>
          </a:prstGeom>
        </p:spPr>
      </p:pic>
      <p:pic>
        <p:nvPicPr>
          <p:cNvPr id="5" name="Picture 4" descr="A graph with numbers and dots&#10;&#10;Description automatically generated">
            <a:extLst>
              <a:ext uri="{FF2B5EF4-FFF2-40B4-BE49-F238E27FC236}">
                <a16:creationId xmlns:a16="http://schemas.microsoft.com/office/drawing/2014/main" id="{52F27F09-4FD1-7B66-8A80-FDB745DE2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8831" y="2149438"/>
            <a:ext cx="5486411" cy="3657607"/>
          </a:xfrm>
          <a:prstGeom prst="rect">
            <a:avLst/>
          </a:prstGeom>
        </p:spPr>
      </p:pic>
      <p:sp>
        <p:nvSpPr>
          <p:cNvPr id="6" name="TextBox 5">
            <a:extLst>
              <a:ext uri="{FF2B5EF4-FFF2-40B4-BE49-F238E27FC236}">
                <a16:creationId xmlns:a16="http://schemas.microsoft.com/office/drawing/2014/main" id="{FAC319C5-6888-1C95-201D-01E335CB40CF}"/>
              </a:ext>
            </a:extLst>
          </p:cNvPr>
          <p:cNvSpPr txBox="1"/>
          <p:nvPr/>
        </p:nvSpPr>
        <p:spPr>
          <a:xfrm>
            <a:off x="1083448" y="1618089"/>
            <a:ext cx="2750884" cy="369332"/>
          </a:xfrm>
          <a:prstGeom prst="rect">
            <a:avLst/>
          </a:prstGeom>
          <a:noFill/>
        </p:spPr>
        <p:txBody>
          <a:bodyPr wrap="square" rtlCol="0">
            <a:spAutoFit/>
          </a:bodyPr>
          <a:lstStyle/>
          <a:p>
            <a:r>
              <a:rPr lang="en-US" dirty="0"/>
              <a:t>Reality: </a:t>
            </a:r>
          </a:p>
        </p:txBody>
      </p:sp>
      <p:sp>
        <p:nvSpPr>
          <p:cNvPr id="7" name="TextBox 6">
            <a:extLst>
              <a:ext uri="{FF2B5EF4-FFF2-40B4-BE49-F238E27FC236}">
                <a16:creationId xmlns:a16="http://schemas.microsoft.com/office/drawing/2014/main" id="{BDF78EF6-6A49-B2C9-53ED-AE4477051193}"/>
              </a:ext>
            </a:extLst>
          </p:cNvPr>
          <p:cNvSpPr txBox="1"/>
          <p:nvPr/>
        </p:nvSpPr>
        <p:spPr>
          <a:xfrm>
            <a:off x="6729932" y="1618089"/>
            <a:ext cx="2750884" cy="369332"/>
          </a:xfrm>
          <a:prstGeom prst="rect">
            <a:avLst/>
          </a:prstGeom>
          <a:noFill/>
        </p:spPr>
        <p:txBody>
          <a:bodyPr wrap="square" rtlCol="0">
            <a:spAutoFit/>
          </a:bodyPr>
          <a:lstStyle/>
          <a:p>
            <a:r>
              <a:rPr lang="en-US" dirty="0"/>
              <a:t>Simulation: </a:t>
            </a:r>
          </a:p>
        </p:txBody>
      </p:sp>
    </p:spTree>
    <p:extLst>
      <p:ext uri="{BB962C8B-B14F-4D97-AF65-F5344CB8AC3E}">
        <p14:creationId xmlns:p14="http://schemas.microsoft.com/office/powerpoint/2010/main" val="985434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53823-B2A5-B6C9-DD24-041848314842}"/>
              </a:ext>
            </a:extLst>
          </p:cNvPr>
          <p:cNvSpPr>
            <a:spLocks noGrp="1"/>
          </p:cNvSpPr>
          <p:nvPr>
            <p:ph type="title"/>
          </p:nvPr>
        </p:nvSpPr>
        <p:spPr/>
        <p:txBody>
          <a:bodyPr/>
          <a:lstStyle/>
          <a:p>
            <a:r>
              <a:rPr lang="en-US" dirty="0"/>
              <a:t>Status</a:t>
            </a:r>
          </a:p>
        </p:txBody>
      </p:sp>
      <p:sp>
        <p:nvSpPr>
          <p:cNvPr id="3" name="Content Placeholder 2">
            <a:extLst>
              <a:ext uri="{FF2B5EF4-FFF2-40B4-BE49-F238E27FC236}">
                <a16:creationId xmlns:a16="http://schemas.microsoft.com/office/drawing/2014/main" id="{8DD65B10-A3B9-5D64-063D-CEF51D3F8899}"/>
              </a:ext>
            </a:extLst>
          </p:cNvPr>
          <p:cNvSpPr>
            <a:spLocks noGrp="1"/>
          </p:cNvSpPr>
          <p:nvPr>
            <p:ph idx="1"/>
          </p:nvPr>
        </p:nvSpPr>
        <p:spPr/>
        <p:txBody>
          <a:bodyPr>
            <a:normAutofit fontScale="92500" lnSpcReduction="20000"/>
          </a:bodyPr>
          <a:lstStyle/>
          <a:p>
            <a:r>
              <a:rPr lang="en-US" dirty="0"/>
              <a:t>ABM: on </a:t>
            </a:r>
            <a:r>
              <a:rPr lang="en-US" dirty="0" err="1"/>
              <a:t>github</a:t>
            </a:r>
            <a:r>
              <a:rPr lang="en-US" dirty="0"/>
              <a:t>, in time-out for a year</a:t>
            </a:r>
          </a:p>
          <a:p>
            <a:r>
              <a:rPr lang="en-US" dirty="0"/>
              <a:t>Catchability paper: Drafted, with coauthors</a:t>
            </a:r>
          </a:p>
          <a:p>
            <a:pPr lvl="1"/>
            <a:r>
              <a:rPr lang="en-US" dirty="0"/>
              <a:t>Use: Empirical distributions of the effects of angler, date, and population density on catch </a:t>
            </a:r>
          </a:p>
          <a:p>
            <a:r>
              <a:rPr lang="en-US" dirty="0"/>
              <a:t>Choice experiment: Completed, submitted, torn to shreds by reviewers. Possibly useless</a:t>
            </a:r>
          </a:p>
          <a:p>
            <a:pPr lvl="1"/>
            <a:r>
              <a:rPr lang="en-US" dirty="0"/>
              <a:t>Use: Utilities of catch rates and size for walleye, bass, bluegill, incl tradeoffs between species. (But, nonrepresentative responses, so use with care)</a:t>
            </a:r>
          </a:p>
          <a:p>
            <a:r>
              <a:rPr lang="en-US" dirty="0"/>
              <a:t>Revealed preference analysis of angler diaries: on </a:t>
            </a:r>
            <a:r>
              <a:rPr lang="en-US" dirty="0" err="1"/>
              <a:t>github</a:t>
            </a:r>
            <a:r>
              <a:rPr lang="en-US" dirty="0"/>
              <a:t>. Predicting participation and waterbody type by age, gender, residence</a:t>
            </a:r>
          </a:p>
          <a:p>
            <a:pPr lvl="1"/>
            <a:r>
              <a:rPr lang="en-US" dirty="0"/>
              <a:t>Use: Simulating angler participation? (And dealing with non-lake fishing options) Anglers choosing to 1) not fish, 2) fish great lakes, 3) fish rivers, 4) fish inland lakes. Inland lake anglers then go through the rest of the simulation.</a:t>
            </a:r>
          </a:p>
          <a:p>
            <a:pPr lvl="1"/>
            <a:endParaRPr lang="en-US" dirty="0"/>
          </a:p>
          <a:p>
            <a:pPr lvl="1"/>
            <a:endParaRPr lang="en-US" dirty="0"/>
          </a:p>
          <a:p>
            <a:endParaRPr lang="en-US" dirty="0"/>
          </a:p>
        </p:txBody>
      </p:sp>
    </p:spTree>
    <p:extLst>
      <p:ext uri="{BB962C8B-B14F-4D97-AF65-F5344CB8AC3E}">
        <p14:creationId xmlns:p14="http://schemas.microsoft.com/office/powerpoint/2010/main" val="4098069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1727</Words>
  <Application>Microsoft Office PowerPoint</Application>
  <PresentationFormat>Widescreen</PresentationFormat>
  <Paragraphs>134</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Cambria Math</vt:lpstr>
      <vt:lpstr>Office Theme</vt:lpstr>
      <vt:lpstr>ABM handoff</vt:lpstr>
      <vt:lpstr>Contents</vt:lpstr>
      <vt:lpstr>Forecasting angler responses to slow environmental change</vt:lpstr>
      <vt:lpstr>PowerPoint Presentation</vt:lpstr>
      <vt:lpstr>SES model: possible endpoint</vt:lpstr>
      <vt:lpstr>PowerPoint Presentation</vt:lpstr>
      <vt:lpstr>Individual-based model of the WI inland recreational fishery</vt:lpstr>
      <vt:lpstr>PowerPoint Presentation</vt:lpstr>
      <vt:lpstr>PowerPoint Presentation</vt:lpstr>
      <vt:lpstr>PowerPoint Presentation</vt:lpstr>
      <vt:lpstr>Each annual loop:</vt:lpstr>
      <vt:lpstr>PowerPoint Presentation</vt:lpstr>
      <vt:lpstr>PowerPoint Presentation</vt:lpstr>
      <vt:lpstr>Pattern matching—compare model outputs to observations</vt:lpstr>
      <vt:lpstr>Status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Trudeau</dc:creator>
  <cp:lastModifiedBy>Ashley Trudeau</cp:lastModifiedBy>
  <cp:revision>9</cp:revision>
  <dcterms:created xsi:type="dcterms:W3CDTF">2025-01-03T14:41:41Z</dcterms:created>
  <dcterms:modified xsi:type="dcterms:W3CDTF">2025-01-03T15:52:39Z</dcterms:modified>
</cp:coreProperties>
</file>